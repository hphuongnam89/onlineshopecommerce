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8" r:id="rId1"/>
    <p:sldMasterId id="2147483699" r:id="rId2"/>
    <p:sldMasterId id="2147483700" r:id="rId3"/>
  </p:sldMasterIdLst>
  <p:notesMasterIdLst>
    <p:notesMasterId r:id="rId14"/>
  </p:notesMasterIdLst>
  <p:sldIdLst>
    <p:sldId id="256" r:id="rId4"/>
    <p:sldId id="257" r:id="rId5"/>
    <p:sldId id="265" r:id="rId6"/>
    <p:sldId id="258" r:id="rId7"/>
    <p:sldId id="259" r:id="rId8"/>
    <p:sldId id="260" r:id="rId9"/>
    <p:sldId id="261" r:id="rId10"/>
    <p:sldId id="262" r:id="rId11"/>
    <p:sldId id="263" r:id="rId12"/>
    <p:sldId id="264"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DA0D7C3-B8E4-4839-944F-2DC09C36CC15}">
  <a:tblStyle styleId="{3DA0D7C3-B8E4-4839-944F-2DC09C36CC1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432"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it.ly/devcamnp_j04Code1"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1f74f8d4b6_0_24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g31f74f8d4b6_0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1f74f8d4b6_0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1f74f8d4b6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a:extLst>
            <a:ext uri="{FF2B5EF4-FFF2-40B4-BE49-F238E27FC236}">
              <a16:creationId xmlns:a16="http://schemas.microsoft.com/office/drawing/2014/main" id="{B5310F7B-08CB-857C-C959-9F7A6B564486}"/>
            </a:ext>
          </a:extLst>
        </p:cNvPr>
        <p:cNvGrpSpPr/>
        <p:nvPr/>
      </p:nvGrpSpPr>
      <p:grpSpPr>
        <a:xfrm>
          <a:off x="0" y="0"/>
          <a:ext cx="0" cy="0"/>
          <a:chOff x="0" y="0"/>
          <a:chExt cx="0" cy="0"/>
        </a:xfrm>
      </p:grpSpPr>
      <p:sp>
        <p:nvSpPr>
          <p:cNvPr id="248" name="Google Shape;248;g31f74f8d4b6_0_249:notes">
            <a:extLst>
              <a:ext uri="{FF2B5EF4-FFF2-40B4-BE49-F238E27FC236}">
                <a16:creationId xmlns:a16="http://schemas.microsoft.com/office/drawing/2014/main" id="{F6C66299-CDD8-D27F-4DAD-4880CB390D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1f74f8d4b6_0_249:notes">
            <a:extLst>
              <a:ext uri="{FF2B5EF4-FFF2-40B4-BE49-F238E27FC236}">
                <a16:creationId xmlns:a16="http://schemas.microsoft.com/office/drawing/2014/main" id="{0EEC3EF1-4F2C-552D-274F-1445119498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0423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f74f8d4b6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1f74f8d4b6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1f74f8d4b6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1f74f8d4b6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1f74f8d4b6_0_2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1f74f8d4b6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f74f8d4b6_0_2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1f74f8d4b6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050">
                <a:solidFill>
                  <a:srgbClr val="050505"/>
                </a:solidFill>
                <a:highlight>
                  <a:srgbClr val="FFFFFF"/>
                </a:highlight>
              </a:rPr>
              <a:t>Tham Khảo login-register với code spring. </a:t>
            </a:r>
            <a:r>
              <a:rPr lang="en" sz="1050" u="sng">
                <a:solidFill>
                  <a:schemeClr val="hlink"/>
                </a:solidFill>
                <a:highlight>
                  <a:srgbClr val="FFFFFF"/>
                </a:highlight>
                <a:hlinkClick r:id="rId3"/>
              </a:rPr>
              <a:t>https://bit.ly/devcamnp_j04Code1</a:t>
            </a:r>
            <a:endParaRPr sz="1050">
              <a:solidFill>
                <a:schemeClr val="hlink"/>
              </a:solidFill>
              <a:highlight>
                <a:srgbClr val="FFFFFF"/>
              </a:highlight>
            </a:endParaRPr>
          </a:p>
          <a:p>
            <a:pPr marL="0" lvl="0" indent="0" algn="l" rtl="0">
              <a:spcBef>
                <a:spcPts val="0"/>
              </a:spcBef>
              <a:spcAft>
                <a:spcPts val="0"/>
              </a:spcAft>
              <a:buNone/>
            </a:pPr>
            <a:r>
              <a:rPr lang="en" sz="1050">
                <a:solidFill>
                  <a:srgbClr val="050505"/>
                </a:solidFill>
                <a:highlight>
                  <a:srgbClr val="FFFFFF"/>
                </a:highlight>
              </a:rPr>
              <a:t>DB import file </a:t>
            </a:r>
            <a:r>
              <a:rPr lang="en" sz="1050" i="1">
                <a:solidFill>
                  <a:srgbClr val="050505"/>
                </a:solidFill>
                <a:highlight>
                  <a:srgbClr val="FFFFFF"/>
                </a:highlight>
              </a:rPr>
              <a:t>demo_springjwt_update.sql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1f74f8d4b6_0_2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1f74f8d4b6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1f74f8d4b6_0_2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1f74f8d4b6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1f74f8d4b6_0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1f74f8d4b6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p1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p1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60" name="Google Shape;60;p14"/>
          <p:cNvSpPr/>
          <p:nvPr/>
        </p:nvSpPr>
        <p:spPr>
          <a:xfrm>
            <a:off x="0" y="0"/>
            <a:ext cx="9144000" cy="51435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2">
              <a:alphaModFix amt="75000"/>
            </a:blip>
            <a:stretch>
              <a:fillRect t="-48891" b="-28881"/>
            </a:stretch>
          </a:blipFill>
          <a:ln>
            <a:noFill/>
          </a:ln>
        </p:spPr>
        <p:txBody>
          <a:bodyPr/>
          <a:lstStyle/>
          <a:p>
            <a:endParaRPr lang="en-US"/>
          </a:p>
        </p:txBody>
      </p:sp>
      <p:pic>
        <p:nvPicPr>
          <p:cNvPr id="61" name="Google Shape;61;p14"/>
          <p:cNvPicPr preferRelativeResize="0"/>
          <p:nvPr/>
        </p:nvPicPr>
        <p:blipFill>
          <a:blip r:embed="rId3">
            <a:alphaModFix/>
          </a:blip>
          <a:stretch>
            <a:fillRect/>
          </a:stretch>
        </p:blipFill>
        <p:spPr>
          <a:xfrm>
            <a:off x="7306450" y="4695000"/>
            <a:ext cx="1635401" cy="2950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2"/>
        <p:cNvGrpSpPr/>
        <p:nvPr/>
      </p:nvGrpSpPr>
      <p:grpSpPr>
        <a:xfrm>
          <a:off x="0" y="0"/>
          <a:ext cx="0" cy="0"/>
          <a:chOff x="0" y="0"/>
          <a:chExt cx="0" cy="0"/>
        </a:xfrm>
      </p:grpSpPr>
      <p:sp>
        <p:nvSpPr>
          <p:cNvPr id="63" name="Google Shape;63;p15"/>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4" name="Google Shape;64;p15"/>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65" name="Google Shape;65;p1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6" name="Google Shape;66;p1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7" name="Google Shape;67;p1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0" name="Google Shape;70;p16"/>
          <p:cNvSpPr txBox="1">
            <a:spLocks noGrp="1"/>
          </p:cNvSpPr>
          <p:nvPr>
            <p:ph type="body" idx="1"/>
          </p:nvPr>
        </p:nvSpPr>
        <p:spPr>
          <a:xfrm>
            <a:off x="228600" y="800100"/>
            <a:ext cx="4114800" cy="22632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1" name="Google Shape;71;p16"/>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2" name="Google Shape;72;p16"/>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p16"/>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6" name="Google Shape;76;p17"/>
          <p:cNvSpPr txBox="1">
            <a:spLocks noGrp="1"/>
          </p:cNvSpPr>
          <p:nvPr>
            <p:ph type="body" idx="1"/>
          </p:nvPr>
        </p:nvSpPr>
        <p:spPr>
          <a:xfrm>
            <a:off x="361156" y="1453357"/>
            <a:ext cx="3886200" cy="7503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77" name="Google Shape;77;p1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8" name="Google Shape;78;p1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p1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2" name="Google Shape;82;p18"/>
          <p:cNvSpPr txBox="1">
            <a:spLocks noGrp="1"/>
          </p:cNvSpPr>
          <p:nvPr>
            <p:ph type="body" idx="1"/>
          </p:nvPr>
        </p:nvSpPr>
        <p:spPr>
          <a:xfrm>
            <a:off x="228600" y="800100"/>
            <a:ext cx="2019300" cy="22632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3" name="Google Shape;83;p18"/>
          <p:cNvSpPr txBox="1">
            <a:spLocks noGrp="1"/>
          </p:cNvSpPr>
          <p:nvPr>
            <p:ph type="body" idx="2"/>
          </p:nvPr>
        </p:nvSpPr>
        <p:spPr>
          <a:xfrm>
            <a:off x="2324100" y="800100"/>
            <a:ext cx="2019300" cy="22632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4" name="Google Shape;84;p1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5" name="Google Shape;85;p1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6" name="Google Shape;86;p1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9" name="Google Shape;89;p19"/>
          <p:cNvSpPr txBox="1">
            <a:spLocks noGrp="1"/>
          </p:cNvSpPr>
          <p:nvPr>
            <p:ph type="body" idx="1"/>
          </p:nvPr>
        </p:nvSpPr>
        <p:spPr>
          <a:xfrm>
            <a:off x="228600" y="767556"/>
            <a:ext cx="2020200" cy="3201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0" name="Google Shape;90;p19"/>
          <p:cNvSpPr txBox="1">
            <a:spLocks noGrp="1"/>
          </p:cNvSpPr>
          <p:nvPr>
            <p:ph type="body" idx="2"/>
          </p:nvPr>
        </p:nvSpPr>
        <p:spPr>
          <a:xfrm>
            <a:off x="228600" y="1087438"/>
            <a:ext cx="2020200" cy="19758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1" name="Google Shape;91;p19"/>
          <p:cNvSpPr txBox="1">
            <a:spLocks noGrp="1"/>
          </p:cNvSpPr>
          <p:nvPr>
            <p:ph type="body" idx="3"/>
          </p:nvPr>
        </p:nvSpPr>
        <p:spPr>
          <a:xfrm>
            <a:off x="2322513" y="767556"/>
            <a:ext cx="2021100" cy="3201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2" name="Google Shape;92;p19"/>
          <p:cNvSpPr txBox="1">
            <a:spLocks noGrp="1"/>
          </p:cNvSpPr>
          <p:nvPr>
            <p:ph type="body" idx="4"/>
          </p:nvPr>
        </p:nvSpPr>
        <p:spPr>
          <a:xfrm>
            <a:off x="2322513" y="1087438"/>
            <a:ext cx="2021100" cy="19758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3" name="Google Shape;93;p1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4" name="Google Shape;94;p1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5" name="Google Shape;95;p1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8" name="Google Shape;98;p20"/>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9" name="Google Shape;99;p20"/>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0" name="Google Shape;100;p20"/>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3" name="Google Shape;103;p21"/>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104" name="Google Shape;104;p21"/>
          <p:cNvSpPr txBox="1">
            <a:spLocks noGrp="1"/>
          </p:cNvSpPr>
          <p:nvPr>
            <p:ph type="body" idx="2"/>
          </p:nvPr>
        </p:nvSpPr>
        <p:spPr>
          <a:xfrm>
            <a:off x="228600" y="717550"/>
            <a:ext cx="1504200" cy="23457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05" name="Google Shape;105;p2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6" name="Google Shape;106;p2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7" name="Google Shape;107;p2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0" name="Google Shape;110;p22"/>
          <p:cNvSpPr>
            <a:spLocks noGrp="1"/>
          </p:cNvSpPr>
          <p:nvPr>
            <p:ph type="pic" idx="2"/>
          </p:nvPr>
        </p:nvSpPr>
        <p:spPr>
          <a:xfrm>
            <a:off x="896144" y="306388"/>
            <a:ext cx="2743200" cy="2057400"/>
          </a:xfrm>
          <a:prstGeom prst="rect">
            <a:avLst/>
          </a:prstGeom>
          <a:noFill/>
          <a:ln>
            <a:noFill/>
          </a:ln>
        </p:spPr>
      </p:sp>
      <p:sp>
        <p:nvSpPr>
          <p:cNvPr id="111" name="Google Shape;111;p22"/>
          <p:cNvSpPr txBox="1">
            <a:spLocks noGrp="1"/>
          </p:cNvSpPr>
          <p:nvPr>
            <p:ph type="body" idx="1"/>
          </p:nvPr>
        </p:nvSpPr>
        <p:spPr>
          <a:xfrm>
            <a:off x="896144" y="2683669"/>
            <a:ext cx="2743200" cy="4026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12" name="Google Shape;112;p2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3" name="Google Shape;113;p2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4" name="Google Shape;114;p2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7" name="Google Shape;117;p23"/>
          <p:cNvSpPr txBox="1">
            <a:spLocks noGrp="1"/>
          </p:cNvSpPr>
          <p:nvPr>
            <p:ph type="body" idx="1"/>
          </p:nvPr>
        </p:nvSpPr>
        <p:spPr>
          <a:xfrm rot="5400000">
            <a:off x="1154400" y="-125700"/>
            <a:ext cx="2263200"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18" name="Google Shape;118;p2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9" name="Google Shape;119;p2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0" name="Google Shape;120;p2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1"/>
        <p:cNvGrpSpPr/>
        <p:nvPr/>
      </p:nvGrpSpPr>
      <p:grpSpPr>
        <a:xfrm>
          <a:off x="0" y="0"/>
          <a:ext cx="0" cy="0"/>
          <a:chOff x="0" y="0"/>
          <a:chExt cx="0" cy="0"/>
        </a:xfrm>
      </p:grpSpPr>
      <p:sp>
        <p:nvSpPr>
          <p:cNvPr id="122" name="Google Shape;122;p24"/>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3" name="Google Shape;123;p24"/>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24" name="Google Shape;124;p2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5" name="Google Shape;125;p2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6" name="Google Shape;126;p2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3"/>
        <p:cNvGrpSpPr/>
        <p:nvPr/>
      </p:nvGrpSpPr>
      <p:grpSpPr>
        <a:xfrm>
          <a:off x="0" y="0"/>
          <a:ext cx="0" cy="0"/>
          <a:chOff x="0" y="0"/>
          <a:chExt cx="0" cy="0"/>
        </a:xfrm>
      </p:grpSpPr>
      <p:sp>
        <p:nvSpPr>
          <p:cNvPr id="134" name="Google Shape;134;p2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5" name="Google Shape;135;p26"/>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36" name="Google Shape;136;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7" name="Google Shape;137;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8" name="Google Shape;138;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9"/>
        <p:cNvGrpSpPr/>
        <p:nvPr/>
      </p:nvGrpSpPr>
      <p:grpSpPr>
        <a:xfrm>
          <a:off x="0" y="0"/>
          <a:ext cx="0" cy="0"/>
          <a:chOff x="0" y="0"/>
          <a:chExt cx="0" cy="0"/>
        </a:xfrm>
      </p:grpSpPr>
      <p:sp>
        <p:nvSpPr>
          <p:cNvPr id="140" name="Google Shape;140;p2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1" name="Google Shape;141;p27"/>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2" name="Google Shape;142;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3" name="Google Shape;143;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4" name="Google Shape;144;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7" name="Google Shape;147;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8" name="Google Shape;148;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9" name="Google Shape;149;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0"/>
        <p:cNvGrpSpPr/>
        <p:nvPr/>
      </p:nvGrpSpPr>
      <p:grpSpPr>
        <a:xfrm>
          <a:off x="0" y="0"/>
          <a:ext cx="0" cy="0"/>
          <a:chOff x="0" y="0"/>
          <a:chExt cx="0" cy="0"/>
        </a:xfrm>
      </p:grpSpPr>
      <p:sp>
        <p:nvSpPr>
          <p:cNvPr id="151" name="Google Shape;151;p29"/>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2" name="Google Shape;152;p2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53" name="Google Shape;153;p2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4" name="Google Shape;154;p2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5" name="Google Shape;155;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56"/>
        <p:cNvGrpSpPr/>
        <p:nvPr/>
      </p:nvGrpSpPr>
      <p:grpSpPr>
        <a:xfrm>
          <a:off x="0" y="0"/>
          <a:ext cx="0" cy="0"/>
          <a:chOff x="0" y="0"/>
          <a:chExt cx="0" cy="0"/>
        </a:xfrm>
      </p:grpSpPr>
      <p:sp>
        <p:nvSpPr>
          <p:cNvPr id="157" name="Google Shape;157;p3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8" name="Google Shape;158;p3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9" name="Google Shape;159;p3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0" name="Google Shape;160;p3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1" name="Google Shape;161;p3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2" name="Google Shape;162;p3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5" name="Google Shape;165;p3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66" name="Google Shape;166;p31"/>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7" name="Google Shape;167;p3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68" name="Google Shape;168;p31"/>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69" name="Google Shape;169;p3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1" name="Google Shape;171;p3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2"/>
        <p:cNvGrpSpPr/>
        <p:nvPr/>
      </p:nvGrpSpPr>
      <p:grpSpPr>
        <a:xfrm>
          <a:off x="0" y="0"/>
          <a:ext cx="0" cy="0"/>
          <a:chOff x="0" y="0"/>
          <a:chExt cx="0" cy="0"/>
        </a:xfrm>
      </p:grpSpPr>
      <p:sp>
        <p:nvSpPr>
          <p:cNvPr id="173" name="Google Shape;173;p3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4" name="Google Shape;174;p3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5" name="Google Shape;175;p3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76"/>
        <p:cNvGrpSpPr/>
        <p:nvPr/>
      </p:nvGrpSpPr>
      <p:grpSpPr>
        <a:xfrm>
          <a:off x="0" y="0"/>
          <a:ext cx="0" cy="0"/>
          <a:chOff x="0" y="0"/>
          <a:chExt cx="0" cy="0"/>
        </a:xfrm>
      </p:grpSpPr>
      <p:sp>
        <p:nvSpPr>
          <p:cNvPr id="177" name="Google Shape;177;p33"/>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8" name="Google Shape;178;p33"/>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79" name="Google Shape;179;p33"/>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80" name="Google Shape;180;p3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1" name="Google Shape;181;p3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2" name="Google Shape;182;p3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83"/>
        <p:cNvGrpSpPr/>
        <p:nvPr/>
      </p:nvGrpSpPr>
      <p:grpSpPr>
        <a:xfrm>
          <a:off x="0" y="0"/>
          <a:ext cx="0" cy="0"/>
          <a:chOff x="0" y="0"/>
          <a:chExt cx="0" cy="0"/>
        </a:xfrm>
      </p:grpSpPr>
      <p:sp>
        <p:nvSpPr>
          <p:cNvPr id="184" name="Google Shape;184;p3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5" name="Google Shape;185;p34"/>
          <p:cNvSpPr>
            <a:spLocks noGrp="1"/>
          </p:cNvSpPr>
          <p:nvPr>
            <p:ph type="pic" idx="2"/>
          </p:nvPr>
        </p:nvSpPr>
        <p:spPr>
          <a:xfrm>
            <a:off x="3887391" y="740569"/>
            <a:ext cx="4629300" cy="3655200"/>
          </a:xfrm>
          <a:prstGeom prst="rect">
            <a:avLst/>
          </a:prstGeom>
          <a:noFill/>
          <a:ln>
            <a:noFill/>
          </a:ln>
        </p:spPr>
      </p:sp>
      <p:sp>
        <p:nvSpPr>
          <p:cNvPr id="186" name="Google Shape;186;p34"/>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87" name="Google Shape;187;p3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8" name="Google Shape;188;p3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9" name="Google Shape;189;p3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90"/>
        <p:cNvGrpSpPr/>
        <p:nvPr/>
      </p:nvGrpSpPr>
      <p:grpSpPr>
        <a:xfrm>
          <a:off x="0" y="0"/>
          <a:ext cx="0" cy="0"/>
          <a:chOff x="0" y="0"/>
          <a:chExt cx="0" cy="0"/>
        </a:xfrm>
      </p:grpSpPr>
      <p:sp>
        <p:nvSpPr>
          <p:cNvPr id="191" name="Google Shape;191;p3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2" name="Google Shape;192;p35"/>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3" name="Google Shape;193;p3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4" name="Google Shape;194;p3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5" name="Google Shape;195;p3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6"/>
        <p:cNvGrpSpPr/>
        <p:nvPr/>
      </p:nvGrpSpPr>
      <p:grpSpPr>
        <a:xfrm>
          <a:off x="0" y="0"/>
          <a:ext cx="0" cy="0"/>
          <a:chOff x="0" y="0"/>
          <a:chExt cx="0" cy="0"/>
        </a:xfrm>
      </p:grpSpPr>
      <p:sp>
        <p:nvSpPr>
          <p:cNvPr id="197" name="Google Shape;197;p36"/>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8" name="Google Shape;198;p36"/>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9" name="Google Shape;199;p3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0" name="Google Shape;200;p3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1" name="Google Shape;201;p3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311700" y="445025"/>
            <a:ext cx="8520600" cy="5727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4" name="Google Shape;204;p37"/>
          <p:cNvSpPr txBox="1">
            <a:spLocks noGrp="1"/>
          </p:cNvSpPr>
          <p:nvPr>
            <p:ph type="body" idx="1"/>
          </p:nvPr>
        </p:nvSpPr>
        <p:spPr>
          <a:xfrm>
            <a:off x="311700" y="1152475"/>
            <a:ext cx="8520600" cy="3416400"/>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SzPts val="2100"/>
              <a:buChar char="•"/>
              <a:defRPr/>
            </a:lvl1pPr>
            <a:lvl2pPr marL="914400" lvl="1" indent="-342900" algn="l">
              <a:lnSpc>
                <a:spcPct val="90000"/>
              </a:lnSpc>
              <a:spcBef>
                <a:spcPts val="400"/>
              </a:spcBef>
              <a:spcAft>
                <a:spcPts val="0"/>
              </a:spcAft>
              <a:buSzPts val="1800"/>
              <a:buChar char="•"/>
              <a:defRPr/>
            </a:lvl2pPr>
            <a:lvl3pPr marL="1371600" lvl="2" indent="-323850" algn="l">
              <a:lnSpc>
                <a:spcPct val="90000"/>
              </a:lnSpc>
              <a:spcBef>
                <a:spcPts val="400"/>
              </a:spcBef>
              <a:spcAft>
                <a:spcPts val="0"/>
              </a:spcAft>
              <a:buSzPts val="15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SzPts val="1400"/>
              <a:buChar char="•"/>
              <a:defRPr/>
            </a:lvl6pPr>
            <a:lvl7pPr marL="3200400" lvl="6" indent="-317500" algn="l">
              <a:lnSpc>
                <a:spcPct val="90000"/>
              </a:lnSpc>
              <a:spcBef>
                <a:spcPts val="400"/>
              </a:spcBef>
              <a:spcAft>
                <a:spcPts val="0"/>
              </a:spcAft>
              <a:buSzPts val="1400"/>
              <a:buChar char="•"/>
              <a:defRPr/>
            </a:lvl7pPr>
            <a:lvl8pPr marL="3657600" lvl="7" indent="-317500" algn="l">
              <a:lnSpc>
                <a:spcPct val="90000"/>
              </a:lnSpc>
              <a:spcBef>
                <a:spcPts val="400"/>
              </a:spcBef>
              <a:spcAft>
                <a:spcPts val="0"/>
              </a:spcAft>
              <a:buSzPts val="1400"/>
              <a:buChar char="•"/>
              <a:defRPr/>
            </a:lvl8pPr>
            <a:lvl9pPr marL="4114800" lvl="8" indent="-317500" algn="l">
              <a:lnSpc>
                <a:spcPct val="90000"/>
              </a:lnSpc>
              <a:spcBef>
                <a:spcPts val="400"/>
              </a:spcBef>
              <a:spcAft>
                <a:spcPts val="0"/>
              </a:spcAft>
              <a:buSzPts val="1400"/>
              <a:buChar char="•"/>
              <a:defRPr/>
            </a:lvl9pPr>
          </a:lstStyle>
          <a:p>
            <a:endParaRPr/>
          </a:p>
        </p:txBody>
      </p:sp>
      <p:sp>
        <p:nvSpPr>
          <p:cNvPr id="205" name="Google Shape;205;p37"/>
          <p:cNvSpPr txBox="1">
            <a:spLocks noGrp="1"/>
          </p:cNvSpPr>
          <p:nvPr>
            <p:ph type="sldNum" idx="12"/>
          </p:nvPr>
        </p:nvSpPr>
        <p:spPr>
          <a:xfrm>
            <a:off x="8472458" y="4663217"/>
            <a:ext cx="548700" cy="3936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206"/>
        <p:cNvGrpSpPr/>
        <p:nvPr/>
      </p:nvGrpSpPr>
      <p:grpSpPr>
        <a:xfrm>
          <a:off x="0" y="0"/>
          <a:ext cx="0" cy="0"/>
          <a:chOff x="0" y="0"/>
          <a:chExt cx="0" cy="0"/>
        </a:xfrm>
      </p:grpSpPr>
      <p:sp>
        <p:nvSpPr>
          <p:cNvPr id="207" name="Google Shape;207;p3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208"/>
        <p:cNvGrpSpPr/>
        <p:nvPr/>
      </p:nvGrpSpPr>
      <p:grpSpPr>
        <a:xfrm>
          <a:off x="0" y="0"/>
          <a:ext cx="0" cy="0"/>
          <a:chOff x="0" y="0"/>
          <a:chExt cx="0" cy="0"/>
        </a:xfrm>
      </p:grpSpPr>
      <p:sp>
        <p:nvSpPr>
          <p:cNvPr id="209" name="Google Shape;209;p3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3">
  <p:cSld name="TITLE_3">
    <p:spTree>
      <p:nvGrpSpPr>
        <p:cNvPr id="1" name="Shape 210"/>
        <p:cNvGrpSpPr/>
        <p:nvPr/>
      </p:nvGrpSpPr>
      <p:grpSpPr>
        <a:xfrm>
          <a:off x="0" y="0"/>
          <a:ext cx="0" cy="0"/>
          <a:chOff x="0" y="0"/>
          <a:chExt cx="0" cy="0"/>
        </a:xfrm>
      </p:grpSpPr>
      <p:sp>
        <p:nvSpPr>
          <p:cNvPr id="211" name="Google Shape;211;p40"/>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4">
  <p:cSld name="TITLE_4">
    <p:spTree>
      <p:nvGrpSpPr>
        <p:cNvPr id="1" name="Shape 212"/>
        <p:cNvGrpSpPr/>
        <p:nvPr/>
      </p:nvGrpSpPr>
      <p:grpSpPr>
        <a:xfrm>
          <a:off x="0" y="0"/>
          <a:ext cx="0" cy="0"/>
          <a:chOff x="0" y="0"/>
          <a:chExt cx="0" cy="0"/>
        </a:xfrm>
      </p:grpSpPr>
      <p:sp>
        <p:nvSpPr>
          <p:cNvPr id="213" name="Google Shape;213;p4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5">
  <p:cSld name="TITLE_5">
    <p:spTree>
      <p:nvGrpSpPr>
        <p:cNvPr id="1" name="Shape 214"/>
        <p:cNvGrpSpPr/>
        <p:nvPr/>
      </p:nvGrpSpPr>
      <p:grpSpPr>
        <a:xfrm>
          <a:off x="0" y="0"/>
          <a:ext cx="0" cy="0"/>
          <a:chOff x="0" y="0"/>
          <a:chExt cx="0" cy="0"/>
        </a:xfrm>
      </p:grpSpPr>
      <p:sp>
        <p:nvSpPr>
          <p:cNvPr id="215" name="Google Shape;215;p4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_1_1">
  <p:cSld name="TITLE_1_1">
    <p:spTree>
      <p:nvGrpSpPr>
        <p:cNvPr id="1" name="Shape 216"/>
        <p:cNvGrpSpPr/>
        <p:nvPr/>
      </p:nvGrpSpPr>
      <p:grpSpPr>
        <a:xfrm>
          <a:off x="0" y="0"/>
          <a:ext cx="0" cy="0"/>
          <a:chOff x="0" y="0"/>
          <a:chExt cx="0" cy="0"/>
        </a:xfrm>
      </p:grpSpPr>
      <p:sp>
        <p:nvSpPr>
          <p:cNvPr id="217" name="Google Shape;217;p43"/>
          <p:cNvSpPr txBox="1">
            <a:spLocks noGrp="1"/>
          </p:cNvSpPr>
          <p:nvPr>
            <p:ph type="ctrTitle"/>
          </p:nvPr>
        </p:nvSpPr>
        <p:spPr>
          <a:xfrm>
            <a:off x="311708" y="744575"/>
            <a:ext cx="8520600" cy="20526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18" name="Google Shape;218;p43"/>
          <p:cNvSpPr txBox="1">
            <a:spLocks noGrp="1"/>
          </p:cNvSpPr>
          <p:nvPr>
            <p:ph type="subTitle" idx="1"/>
          </p:nvPr>
        </p:nvSpPr>
        <p:spPr>
          <a:xfrm>
            <a:off x="311700" y="2834125"/>
            <a:ext cx="8520600" cy="792600"/>
          </a:xfrm>
          <a:prstGeom prst="rect">
            <a:avLst/>
          </a:prstGeom>
          <a:noFill/>
          <a:ln>
            <a:noFill/>
          </a:ln>
        </p:spPr>
        <p:txBody>
          <a:bodyPr spcFirstLastPara="1" wrap="square" lIns="68575" tIns="34275" rIns="68575" bIns="34275" anchor="t" anchorCtr="0">
            <a:norm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a:endParaRPr/>
          </a:p>
        </p:txBody>
      </p:sp>
      <p:sp>
        <p:nvSpPr>
          <p:cNvPr id="219" name="Google Shape;219;p43"/>
          <p:cNvSpPr txBox="1">
            <a:spLocks noGrp="1"/>
          </p:cNvSpPr>
          <p:nvPr>
            <p:ph type="sldNum" idx="12"/>
          </p:nvPr>
        </p:nvSpPr>
        <p:spPr>
          <a:xfrm>
            <a:off x="8472458" y="4663217"/>
            <a:ext cx="548700" cy="3936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6">
  <p:cSld name="TITLE_6">
    <p:spTree>
      <p:nvGrpSpPr>
        <p:cNvPr id="1" name="Shape 220"/>
        <p:cNvGrpSpPr/>
        <p:nvPr/>
      </p:nvGrpSpPr>
      <p:grpSpPr>
        <a:xfrm>
          <a:off x="0" y="0"/>
          <a:ext cx="0" cy="0"/>
          <a:chOff x="0" y="0"/>
          <a:chExt cx="0" cy="0"/>
        </a:xfrm>
      </p:grpSpPr>
      <p:sp>
        <p:nvSpPr>
          <p:cNvPr id="221" name="Google Shape;221;p4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lide 7">
  <p:cSld name="TITLE_7">
    <p:spTree>
      <p:nvGrpSpPr>
        <p:cNvPr id="1" name="Shape 222"/>
        <p:cNvGrpSpPr/>
        <p:nvPr/>
      </p:nvGrpSpPr>
      <p:grpSpPr>
        <a:xfrm>
          <a:off x="0" y="0"/>
          <a:ext cx="0" cy="0"/>
          <a:chOff x="0" y="0"/>
          <a:chExt cx="0" cy="0"/>
        </a:xfrm>
      </p:grpSpPr>
      <p:sp>
        <p:nvSpPr>
          <p:cNvPr id="223" name="Google Shape;223;p4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Slide 8">
  <p:cSld name="TITLE_8">
    <p:spTree>
      <p:nvGrpSpPr>
        <p:cNvPr id="1" name="Shape 224"/>
        <p:cNvGrpSpPr/>
        <p:nvPr/>
      </p:nvGrpSpPr>
      <p:grpSpPr>
        <a:xfrm>
          <a:off x="0" y="0"/>
          <a:ext cx="0" cy="0"/>
          <a:chOff x="0" y="0"/>
          <a:chExt cx="0" cy="0"/>
        </a:xfrm>
      </p:grpSpPr>
      <p:sp>
        <p:nvSpPr>
          <p:cNvPr id="225" name="Google Shape;225;p46"/>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lide 9">
  <p:cSld name="TITLE_9">
    <p:spTree>
      <p:nvGrpSpPr>
        <p:cNvPr id="1" name="Shape 226"/>
        <p:cNvGrpSpPr/>
        <p:nvPr/>
      </p:nvGrpSpPr>
      <p:grpSpPr>
        <a:xfrm>
          <a:off x="0" y="0"/>
          <a:ext cx="0" cy="0"/>
          <a:chOff x="0" y="0"/>
          <a:chExt cx="0" cy="0"/>
        </a:xfrm>
      </p:grpSpPr>
      <p:sp>
        <p:nvSpPr>
          <p:cNvPr id="227" name="Google Shape;227;p4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lide 10">
  <p:cSld name="TITLE_10">
    <p:spTree>
      <p:nvGrpSpPr>
        <p:cNvPr id="1" name="Shape 228"/>
        <p:cNvGrpSpPr/>
        <p:nvPr/>
      </p:nvGrpSpPr>
      <p:grpSpPr>
        <a:xfrm>
          <a:off x="0" y="0"/>
          <a:ext cx="0" cy="0"/>
          <a:chOff x="0" y="0"/>
          <a:chExt cx="0" cy="0"/>
        </a:xfrm>
      </p:grpSpPr>
      <p:sp>
        <p:nvSpPr>
          <p:cNvPr id="229" name="Google Shape;229;p4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11">
  <p:cSld name="TITLE_11">
    <p:spTree>
      <p:nvGrpSpPr>
        <p:cNvPr id="1" name="Shape 230"/>
        <p:cNvGrpSpPr/>
        <p:nvPr/>
      </p:nvGrpSpPr>
      <p:grpSpPr>
        <a:xfrm>
          <a:off x="0" y="0"/>
          <a:ext cx="0" cy="0"/>
          <a:chOff x="0" y="0"/>
          <a:chExt cx="0" cy="0"/>
        </a:xfrm>
      </p:grpSpPr>
      <p:sp>
        <p:nvSpPr>
          <p:cNvPr id="231" name="Google Shape;231;p4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Slide 12">
  <p:cSld name="TITLE_12">
    <p:spTree>
      <p:nvGrpSpPr>
        <p:cNvPr id="1" name="Shape 232"/>
        <p:cNvGrpSpPr/>
        <p:nvPr/>
      </p:nvGrpSpPr>
      <p:grpSpPr>
        <a:xfrm>
          <a:off x="0" y="0"/>
          <a:ext cx="0" cy="0"/>
          <a:chOff x="0" y="0"/>
          <a:chExt cx="0" cy="0"/>
        </a:xfrm>
      </p:grpSpPr>
      <p:sp>
        <p:nvSpPr>
          <p:cNvPr id="233" name="Google Shape;233;p50"/>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Slide 13">
  <p:cSld name="TITLE_13">
    <p:spTree>
      <p:nvGrpSpPr>
        <p:cNvPr id="1" name="Shape 234"/>
        <p:cNvGrpSpPr/>
        <p:nvPr/>
      </p:nvGrpSpPr>
      <p:grpSpPr>
        <a:xfrm>
          <a:off x="0" y="0"/>
          <a:ext cx="0" cy="0"/>
          <a:chOff x="0" y="0"/>
          <a:chExt cx="0" cy="0"/>
        </a:xfrm>
      </p:grpSpPr>
      <p:sp>
        <p:nvSpPr>
          <p:cNvPr id="235" name="Google Shape;235;p5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Slide 14">
  <p:cSld name="TITLE_14">
    <p:spTree>
      <p:nvGrpSpPr>
        <p:cNvPr id="1" name="Shape 236"/>
        <p:cNvGrpSpPr/>
        <p:nvPr/>
      </p:nvGrpSpPr>
      <p:grpSpPr>
        <a:xfrm>
          <a:off x="0" y="0"/>
          <a:ext cx="0" cy="0"/>
          <a:chOff x="0" y="0"/>
          <a:chExt cx="0" cy="0"/>
        </a:xfrm>
      </p:grpSpPr>
      <p:sp>
        <p:nvSpPr>
          <p:cNvPr id="237" name="Google Shape;237;p5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15">
  <p:cSld name="TITLE_15">
    <p:spTree>
      <p:nvGrpSpPr>
        <p:cNvPr id="1" name="Shape 238"/>
        <p:cNvGrpSpPr/>
        <p:nvPr/>
      </p:nvGrpSpPr>
      <p:grpSpPr>
        <a:xfrm>
          <a:off x="0" y="0"/>
          <a:ext cx="0" cy="0"/>
          <a:chOff x="0" y="0"/>
          <a:chExt cx="0" cy="0"/>
        </a:xfrm>
      </p:grpSpPr>
      <p:sp>
        <p:nvSpPr>
          <p:cNvPr id="239" name="Google Shape;239;p5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29" Type="http://schemas.openxmlformats.org/officeDocument/2006/relationships/theme" Target="../theme/theme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52" name="Google Shape;52;p13"/>
          <p:cNvSpPr txBox="1">
            <a:spLocks noGrp="1"/>
          </p:cNvSpPr>
          <p:nvPr>
            <p:ph type="body" idx="1"/>
          </p:nvPr>
        </p:nvSpPr>
        <p:spPr>
          <a:xfrm>
            <a:off x="228600" y="800100"/>
            <a:ext cx="4114800" cy="2263200"/>
          </a:xfrm>
          <a:prstGeom prst="rect">
            <a:avLst/>
          </a:prstGeom>
          <a:noFill/>
          <a:ln>
            <a:noFill/>
          </a:ln>
        </p:spPr>
        <p:txBody>
          <a:bodyPr spcFirstLastPara="1" wrap="square" lIns="45725" tIns="22850" rIns="45725" bIns="22850" anchor="t" anchorCtr="0">
            <a:normAutofit/>
          </a:bodyPr>
          <a:lstStyle>
            <a:lvl1pPr marL="457200" marR="0" lvl="0" indent="-330200" algn="l">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spcBef>
                <a:spcPts val="0"/>
              </a:spcBef>
              <a:buNone/>
              <a:defRPr sz="600" b="0" i="0" u="none" strike="noStrike" cap="none">
                <a:solidFill>
                  <a:srgbClr val="888888"/>
                </a:solidFill>
                <a:latin typeface="Calibri"/>
                <a:ea typeface="Calibri"/>
                <a:cs typeface="Calibri"/>
                <a:sym typeface="Calibri"/>
              </a:defRPr>
            </a:lvl1pPr>
            <a:lvl2pPr marL="0" marR="0" lvl="1" indent="0" algn="r">
              <a:spcBef>
                <a:spcPts val="0"/>
              </a:spcBef>
              <a:buNone/>
              <a:defRPr sz="600" b="0" i="0" u="none" strike="noStrike" cap="none">
                <a:solidFill>
                  <a:srgbClr val="888888"/>
                </a:solidFill>
                <a:latin typeface="Calibri"/>
                <a:ea typeface="Calibri"/>
                <a:cs typeface="Calibri"/>
                <a:sym typeface="Calibri"/>
              </a:defRPr>
            </a:lvl2pPr>
            <a:lvl3pPr marL="0" marR="0" lvl="2" indent="0" algn="r">
              <a:spcBef>
                <a:spcPts val="0"/>
              </a:spcBef>
              <a:buNone/>
              <a:defRPr sz="600" b="0" i="0" u="none" strike="noStrike" cap="none">
                <a:solidFill>
                  <a:srgbClr val="888888"/>
                </a:solidFill>
                <a:latin typeface="Calibri"/>
                <a:ea typeface="Calibri"/>
                <a:cs typeface="Calibri"/>
                <a:sym typeface="Calibri"/>
              </a:defRPr>
            </a:lvl3pPr>
            <a:lvl4pPr marL="0" marR="0" lvl="3" indent="0" algn="r">
              <a:spcBef>
                <a:spcPts val="0"/>
              </a:spcBef>
              <a:buNone/>
              <a:defRPr sz="600" b="0" i="0" u="none" strike="noStrike" cap="none">
                <a:solidFill>
                  <a:srgbClr val="888888"/>
                </a:solidFill>
                <a:latin typeface="Calibri"/>
                <a:ea typeface="Calibri"/>
                <a:cs typeface="Calibri"/>
                <a:sym typeface="Calibri"/>
              </a:defRPr>
            </a:lvl4pPr>
            <a:lvl5pPr marL="0" marR="0" lvl="4" indent="0" algn="r">
              <a:spcBef>
                <a:spcPts val="0"/>
              </a:spcBef>
              <a:buNone/>
              <a:defRPr sz="600" b="0" i="0" u="none" strike="noStrike" cap="none">
                <a:solidFill>
                  <a:srgbClr val="888888"/>
                </a:solidFill>
                <a:latin typeface="Calibri"/>
                <a:ea typeface="Calibri"/>
                <a:cs typeface="Calibri"/>
                <a:sym typeface="Calibri"/>
              </a:defRPr>
            </a:lvl5pPr>
            <a:lvl6pPr marL="0" marR="0" lvl="5" indent="0" algn="r">
              <a:spcBef>
                <a:spcPts val="0"/>
              </a:spcBef>
              <a:buNone/>
              <a:defRPr sz="600" b="0" i="0" u="none" strike="noStrike" cap="none">
                <a:solidFill>
                  <a:srgbClr val="888888"/>
                </a:solidFill>
                <a:latin typeface="Calibri"/>
                <a:ea typeface="Calibri"/>
                <a:cs typeface="Calibri"/>
                <a:sym typeface="Calibri"/>
              </a:defRPr>
            </a:lvl6pPr>
            <a:lvl7pPr marL="0" marR="0" lvl="6" indent="0" algn="r">
              <a:spcBef>
                <a:spcPts val="0"/>
              </a:spcBef>
              <a:buNone/>
              <a:defRPr sz="600" b="0" i="0" u="none" strike="noStrike" cap="none">
                <a:solidFill>
                  <a:srgbClr val="888888"/>
                </a:solidFill>
                <a:latin typeface="Calibri"/>
                <a:ea typeface="Calibri"/>
                <a:cs typeface="Calibri"/>
                <a:sym typeface="Calibri"/>
              </a:defRPr>
            </a:lvl7pPr>
            <a:lvl8pPr marL="0" marR="0" lvl="7" indent="0" algn="r">
              <a:spcBef>
                <a:spcPts val="0"/>
              </a:spcBef>
              <a:buNone/>
              <a:defRPr sz="600" b="0" i="0" u="none" strike="noStrike" cap="none">
                <a:solidFill>
                  <a:srgbClr val="888888"/>
                </a:solidFill>
                <a:latin typeface="Calibri"/>
                <a:ea typeface="Calibri"/>
                <a:cs typeface="Calibri"/>
                <a:sym typeface="Calibri"/>
              </a:defRPr>
            </a:lvl8pPr>
            <a:lvl9pPr marL="0" marR="0" lvl="8" indent="0" algn="r">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0">
            <a:alphaModFix/>
          </a:blip>
          <a:stretch>
            <a:fillRect/>
          </a:stretch>
        </a:blipFill>
        <a:effectLst/>
      </p:bgPr>
    </p:bg>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9" name="Google Shape;129;p2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31" name="Google Shape;131;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32" name="Google Shape;132;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drive.google.com/drive/folders/16hzUFcebRXCYUR7DKp1PIKJe3uKTdK9o?usp=sharing" TargetMode="External"/><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4.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hyperlink" Target="https://bit.ly/devcamnp_j04Code1" TargetMode="External"/><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hyperlink" Target="https://docs.google.com/presentation/d/1EkxKNa-D4QJQuy2o7OAYhXeXjoBpniTg_UqD_jowQTY/edit?usp=sharing" TargetMode="External"/><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54"/>
          <p:cNvSpPr/>
          <p:nvPr/>
        </p:nvSpPr>
        <p:spPr>
          <a:xfrm>
            <a:off x="267000" y="4226025"/>
            <a:ext cx="5031600" cy="72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i="1">
                <a:solidFill>
                  <a:srgbClr val="0071BB"/>
                </a:solidFill>
              </a:rPr>
              <a:t>Task = công việc;</a:t>
            </a:r>
            <a:endParaRPr sz="1600" i="1">
              <a:solidFill>
                <a:srgbClr val="0071BB"/>
              </a:solidFill>
            </a:endParaRPr>
          </a:p>
          <a:p>
            <a:pPr marL="0" lvl="0" indent="0" algn="l" rtl="0">
              <a:spcBef>
                <a:spcPts val="0"/>
              </a:spcBef>
              <a:spcAft>
                <a:spcPts val="0"/>
              </a:spcAft>
              <a:buNone/>
            </a:pPr>
            <a:r>
              <a:rPr lang="en" sz="1600" i="1">
                <a:solidFill>
                  <a:srgbClr val="0071BB"/>
                </a:solidFill>
              </a:rPr>
              <a:t>Task specification  = mô tả công việc (đầu bài)</a:t>
            </a:r>
            <a:endParaRPr sz="1600" i="1">
              <a:solidFill>
                <a:srgbClr val="0071BB"/>
              </a:solidFill>
            </a:endParaRPr>
          </a:p>
        </p:txBody>
      </p:sp>
      <p:sp>
        <p:nvSpPr>
          <p:cNvPr id="245" name="Google Shape;245;p54"/>
          <p:cNvSpPr txBox="1"/>
          <p:nvPr/>
        </p:nvSpPr>
        <p:spPr>
          <a:xfrm>
            <a:off x="1610150" y="1423775"/>
            <a:ext cx="5926200" cy="827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endParaRPr sz="4000" b="1">
              <a:solidFill>
                <a:srgbClr val="37278E"/>
              </a:solidFill>
            </a:endParaRPr>
          </a:p>
        </p:txBody>
      </p:sp>
      <p:sp>
        <p:nvSpPr>
          <p:cNvPr id="246" name="Google Shape;246;p54"/>
          <p:cNvSpPr txBox="1">
            <a:spLocks noGrp="1"/>
          </p:cNvSpPr>
          <p:nvPr>
            <p:ph type="ctrTitle" idx="4294967295"/>
          </p:nvPr>
        </p:nvSpPr>
        <p:spPr>
          <a:xfrm>
            <a:off x="770125" y="549125"/>
            <a:ext cx="7873800" cy="1768800"/>
          </a:xfrm>
          <a:prstGeom prst="rect">
            <a:avLst/>
          </a:prstGeom>
        </p:spPr>
        <p:txBody>
          <a:bodyPr spcFirstLastPara="1" wrap="square" lIns="45725" tIns="22850" rIns="45725" bIns="22850" anchor="t" anchorCtr="0">
            <a:noAutofit/>
          </a:bodyPr>
          <a:lstStyle/>
          <a:p>
            <a:pPr marL="0" lvl="0" indent="0" algn="ctr" rtl="0">
              <a:lnSpc>
                <a:spcPct val="150000"/>
              </a:lnSpc>
              <a:spcBef>
                <a:spcPts val="0"/>
              </a:spcBef>
              <a:spcAft>
                <a:spcPts val="0"/>
              </a:spcAft>
              <a:buNone/>
            </a:pPr>
            <a:r>
              <a:rPr lang="en" sz="4000" b="1">
                <a:solidFill>
                  <a:srgbClr val="37278E"/>
                </a:solidFill>
                <a:latin typeface="Arial"/>
                <a:ea typeface="Arial"/>
                <a:cs typeface="Arial"/>
                <a:sym typeface="Arial"/>
              </a:rPr>
              <a:t>Capstone project </a:t>
            </a:r>
            <a:endParaRPr sz="4000" b="1">
              <a:solidFill>
                <a:srgbClr val="37278E"/>
              </a:solidFill>
              <a:latin typeface="Arial"/>
              <a:ea typeface="Arial"/>
              <a:cs typeface="Arial"/>
              <a:sym typeface="Arial"/>
            </a:endParaRPr>
          </a:p>
          <a:p>
            <a:pPr marL="0" lvl="0" indent="0" algn="ctr" rtl="0">
              <a:lnSpc>
                <a:spcPct val="150000"/>
              </a:lnSpc>
              <a:spcBef>
                <a:spcPts val="0"/>
              </a:spcBef>
              <a:spcAft>
                <a:spcPts val="0"/>
              </a:spcAft>
              <a:buNone/>
            </a:pPr>
            <a:r>
              <a:rPr lang="en" sz="4000" b="1">
                <a:solidFill>
                  <a:srgbClr val="0071BB"/>
                </a:solidFill>
                <a:latin typeface="Arial"/>
                <a:ea typeface="Arial"/>
                <a:cs typeface="Arial"/>
                <a:sym typeface="Arial"/>
              </a:rPr>
              <a:t>Dự án ONLINE STORE24</a:t>
            </a:r>
            <a:endParaRPr sz="4000" b="1">
              <a:solidFill>
                <a:srgbClr val="0071BB"/>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55"/>
          <p:cNvSpPr txBox="1">
            <a:spLocks noGrp="1"/>
          </p:cNvSpPr>
          <p:nvPr>
            <p:ph type="body" idx="1"/>
          </p:nvPr>
        </p:nvSpPr>
        <p:spPr>
          <a:xfrm>
            <a:off x="504725" y="923200"/>
            <a:ext cx="8452200" cy="3875700"/>
          </a:xfrm>
          <a:prstGeom prst="rect">
            <a:avLst/>
          </a:prstGeom>
        </p:spPr>
        <p:txBody>
          <a:bodyPr spcFirstLastPara="1" wrap="square" lIns="68575" tIns="34275" rIns="68575" bIns="34275" anchor="t" anchorCtr="0">
            <a:noAutofit/>
          </a:bodyPr>
          <a:lstStyle/>
          <a:p>
            <a:pPr marL="457200" lvl="0" indent="-330200" algn="l" rtl="0">
              <a:lnSpc>
                <a:spcPct val="100000"/>
              </a:lnSpc>
              <a:spcBef>
                <a:spcPts val="800"/>
              </a:spcBef>
              <a:spcAft>
                <a:spcPts val="0"/>
              </a:spcAft>
              <a:buSzPts val="1600"/>
              <a:buAutoNum type="arabicPeriod"/>
            </a:pPr>
            <a:r>
              <a:rPr lang="en" sz="1600">
                <a:latin typeface="Arial"/>
                <a:ea typeface="Arial"/>
                <a:cs typeface="Arial"/>
                <a:sym typeface="Arial"/>
              </a:rPr>
              <a:t>Liệt kê danh mục sản phẩm, dữ liệu sản phẩm lấy từ back-end.</a:t>
            </a:r>
            <a:endParaRPr sz="1600">
              <a:latin typeface="Arial"/>
              <a:ea typeface="Arial"/>
              <a:cs typeface="Arial"/>
              <a:sym typeface="Arial"/>
            </a:endParaRPr>
          </a:p>
          <a:p>
            <a:pPr marL="457200" lvl="0" indent="-330200" algn="l" rtl="0">
              <a:lnSpc>
                <a:spcPct val="100000"/>
              </a:lnSpc>
              <a:spcBef>
                <a:spcPts val="800"/>
              </a:spcBef>
              <a:spcAft>
                <a:spcPts val="0"/>
              </a:spcAft>
              <a:buSzPts val="1600"/>
              <a:buAutoNum type="arabicPeriod"/>
            </a:pPr>
            <a:r>
              <a:rPr lang="en" sz="1600">
                <a:latin typeface="Arial"/>
                <a:ea typeface="Arial"/>
                <a:cs typeface="Arial"/>
                <a:sym typeface="Arial"/>
              </a:rPr>
              <a:t>Chọn sản phẩm cần mua vào giỏ hàng, </a:t>
            </a:r>
            <a:endParaRPr sz="1600">
              <a:latin typeface="Arial"/>
              <a:ea typeface="Arial"/>
              <a:cs typeface="Arial"/>
              <a:sym typeface="Arial"/>
            </a:endParaRPr>
          </a:p>
          <a:p>
            <a:pPr marL="457200" lvl="0" indent="-330200" algn="l" rtl="0">
              <a:lnSpc>
                <a:spcPct val="100000"/>
              </a:lnSpc>
              <a:spcBef>
                <a:spcPts val="800"/>
              </a:spcBef>
              <a:spcAft>
                <a:spcPts val="0"/>
              </a:spcAft>
              <a:buSzPts val="1600"/>
              <a:buAutoNum type="arabicPeriod"/>
            </a:pPr>
            <a:r>
              <a:rPr lang="en" sz="1600">
                <a:latin typeface="Arial"/>
                <a:ea typeface="Arial"/>
                <a:cs typeface="Arial"/>
                <a:sym typeface="Arial"/>
              </a:rPr>
              <a:t>Chọn nhiều lần thì tăng số sản phẩm trong giỏ hàng lên.</a:t>
            </a:r>
            <a:endParaRPr sz="1600">
              <a:latin typeface="Arial"/>
              <a:ea typeface="Arial"/>
              <a:cs typeface="Arial"/>
              <a:sym typeface="Arial"/>
            </a:endParaRPr>
          </a:p>
          <a:p>
            <a:pPr marL="457200" lvl="0" indent="-330200" algn="l" rtl="0">
              <a:lnSpc>
                <a:spcPct val="100000"/>
              </a:lnSpc>
              <a:spcBef>
                <a:spcPts val="800"/>
              </a:spcBef>
              <a:spcAft>
                <a:spcPts val="0"/>
              </a:spcAft>
              <a:buSzPts val="1600"/>
              <a:buAutoNum type="arabicPeriod"/>
            </a:pPr>
            <a:r>
              <a:rPr lang="en" sz="1600">
                <a:latin typeface="Arial"/>
                <a:ea typeface="Arial"/>
                <a:cs typeface="Arial"/>
                <a:sym typeface="Arial"/>
              </a:rPr>
              <a:t>Mục giỏ hàng cho phép tăng giảm số lượng sản phẩm.</a:t>
            </a:r>
            <a:endParaRPr sz="1600">
              <a:latin typeface="Arial"/>
              <a:ea typeface="Arial"/>
              <a:cs typeface="Arial"/>
              <a:sym typeface="Arial"/>
            </a:endParaRPr>
          </a:p>
          <a:p>
            <a:pPr marL="457200" lvl="0" indent="-330200" algn="l" rtl="0">
              <a:lnSpc>
                <a:spcPct val="100000"/>
              </a:lnSpc>
              <a:spcBef>
                <a:spcPts val="800"/>
              </a:spcBef>
              <a:spcAft>
                <a:spcPts val="0"/>
              </a:spcAft>
              <a:buSzPts val="1600"/>
              <a:buAutoNum type="arabicPeriod"/>
            </a:pPr>
            <a:r>
              <a:rPr lang="en" sz="1600">
                <a:latin typeface="Arial"/>
                <a:ea typeface="Arial"/>
                <a:cs typeface="Arial"/>
                <a:sym typeface="Arial"/>
              </a:rPr>
              <a:t>Khi nhấn nút mua hàng  trong mục giỏ hàng sẽ tạo 1 Order trong có các sản phẩm đã chọn, số tiền mỗi loại theo số lượng chọn và tổng tiền.</a:t>
            </a:r>
            <a:endParaRPr sz="1600">
              <a:latin typeface="Arial"/>
              <a:ea typeface="Arial"/>
              <a:cs typeface="Arial"/>
              <a:sym typeface="Arial"/>
            </a:endParaRPr>
          </a:p>
          <a:p>
            <a:pPr marL="457200" lvl="0" indent="-330200" algn="l" rtl="0">
              <a:lnSpc>
                <a:spcPct val="100000"/>
              </a:lnSpc>
              <a:spcBef>
                <a:spcPts val="800"/>
              </a:spcBef>
              <a:spcAft>
                <a:spcPts val="0"/>
              </a:spcAft>
              <a:buSzPts val="1600"/>
              <a:buAutoNum type="arabicPeriod"/>
            </a:pPr>
            <a:r>
              <a:rPr lang="en" sz="1600">
                <a:latin typeface="Arial"/>
                <a:ea typeface="Arial"/>
                <a:cs typeface="Arial"/>
                <a:sym typeface="Arial"/>
              </a:rPr>
              <a:t>Nhấn nút thanh toán tại Order thì sẽ ra mục nhập thông tin người mua.</a:t>
            </a:r>
            <a:endParaRPr sz="1600">
              <a:latin typeface="Arial"/>
              <a:ea typeface="Arial"/>
              <a:cs typeface="Arial"/>
              <a:sym typeface="Arial"/>
            </a:endParaRPr>
          </a:p>
          <a:p>
            <a:pPr marL="457200" lvl="0" indent="-330200" algn="l" rtl="0">
              <a:lnSpc>
                <a:spcPct val="100000"/>
              </a:lnSpc>
              <a:spcBef>
                <a:spcPts val="800"/>
              </a:spcBef>
              <a:spcAft>
                <a:spcPts val="0"/>
              </a:spcAft>
              <a:buSzPts val="1600"/>
              <a:buAutoNum type="arabicPeriod"/>
            </a:pPr>
            <a:r>
              <a:rPr lang="en" sz="1600">
                <a:latin typeface="Arial"/>
                <a:ea typeface="Arial"/>
                <a:cs typeface="Arial"/>
                <a:sym typeface="Arial"/>
              </a:rPr>
              <a:t>Sau khi nhập xong dữ liệu sẽ được lưu vào DB qua back-end. </a:t>
            </a:r>
            <a:endParaRPr sz="1600">
              <a:latin typeface="Arial"/>
              <a:ea typeface="Arial"/>
              <a:cs typeface="Arial"/>
              <a:sym typeface="Arial"/>
            </a:endParaRPr>
          </a:p>
          <a:p>
            <a:pPr marL="914400" lvl="1" indent="-330200" algn="l" rtl="0">
              <a:lnSpc>
                <a:spcPct val="100000"/>
              </a:lnSpc>
              <a:spcBef>
                <a:spcPts val="400"/>
              </a:spcBef>
              <a:spcAft>
                <a:spcPts val="0"/>
              </a:spcAft>
              <a:buSzPts val="1600"/>
              <a:buAutoNum type="alphaLcPeriod"/>
            </a:pPr>
            <a:r>
              <a:rPr lang="en" sz="1600">
                <a:latin typeface="Arial"/>
                <a:ea typeface="Arial"/>
                <a:cs typeface="Arial"/>
                <a:sym typeface="Arial"/>
              </a:rPr>
              <a:t>Nếu số điện thoại (sdt) của khách trùng với sdt  đã có trong DB thì sẽ cập nhật thông tin khách hàng đã có với sdt đó và add thông tin order mới này cho khách hàng đó. </a:t>
            </a:r>
            <a:endParaRPr sz="1600">
              <a:latin typeface="Arial"/>
              <a:ea typeface="Arial"/>
              <a:cs typeface="Arial"/>
              <a:sym typeface="Arial"/>
            </a:endParaRPr>
          </a:p>
          <a:p>
            <a:pPr marL="914400" lvl="1" indent="-330200" algn="l" rtl="0">
              <a:lnSpc>
                <a:spcPct val="100000"/>
              </a:lnSpc>
              <a:spcBef>
                <a:spcPts val="400"/>
              </a:spcBef>
              <a:spcAft>
                <a:spcPts val="0"/>
              </a:spcAft>
              <a:buSzPts val="1600"/>
              <a:buAutoNum type="alphaLcPeriod"/>
            </a:pPr>
            <a:r>
              <a:rPr lang="en" sz="1600">
                <a:latin typeface="Arial"/>
                <a:ea typeface="Arial"/>
                <a:cs typeface="Arial"/>
                <a:sym typeface="Arial"/>
              </a:rPr>
              <a:t>Nếu sdt không trùng thì tạo mới khách hàng và oder mới trong DB</a:t>
            </a:r>
            <a:endParaRPr sz="1600">
              <a:latin typeface="Arial"/>
              <a:ea typeface="Arial"/>
              <a:cs typeface="Arial"/>
              <a:sym typeface="Arial"/>
            </a:endParaRPr>
          </a:p>
        </p:txBody>
      </p:sp>
      <p:sp>
        <p:nvSpPr>
          <p:cNvPr id="252" name="Google Shape;252;p55"/>
          <p:cNvSpPr txBox="1"/>
          <p:nvPr/>
        </p:nvSpPr>
        <p:spPr>
          <a:xfrm>
            <a:off x="6754625" y="601650"/>
            <a:ext cx="22023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u="sng">
                <a:solidFill>
                  <a:schemeClr val="hlink"/>
                </a:solidFill>
                <a:hlinkClick r:id="rId3"/>
              </a:rPr>
              <a:t>Tham khảo giao diện</a:t>
            </a:r>
            <a:endParaRPr sz="1700"/>
          </a:p>
        </p:txBody>
      </p:sp>
      <p:sp>
        <p:nvSpPr>
          <p:cNvPr id="253" name="Google Shape;253;p55"/>
          <p:cNvSpPr txBox="1"/>
          <p:nvPr/>
        </p:nvSpPr>
        <p:spPr>
          <a:xfrm>
            <a:off x="504725" y="432700"/>
            <a:ext cx="6420300" cy="490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000" b="1">
              <a:solidFill>
                <a:srgbClr val="37278E"/>
              </a:solidFill>
            </a:endParaRPr>
          </a:p>
        </p:txBody>
      </p:sp>
      <p:sp>
        <p:nvSpPr>
          <p:cNvPr id="254" name="Google Shape;254;p55"/>
          <p:cNvSpPr txBox="1"/>
          <p:nvPr/>
        </p:nvSpPr>
        <p:spPr>
          <a:xfrm>
            <a:off x="519125" y="185250"/>
            <a:ext cx="8423400" cy="49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37278E"/>
                </a:solidFill>
              </a:rPr>
              <a:t>Yêu cầu front-end dành cho khách hàng (Mockup)</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0">
          <a:extLst>
            <a:ext uri="{FF2B5EF4-FFF2-40B4-BE49-F238E27FC236}">
              <a16:creationId xmlns:a16="http://schemas.microsoft.com/office/drawing/2014/main" id="{D408D7EC-7894-0A95-46C8-8F1432BF6326}"/>
            </a:ext>
          </a:extLst>
        </p:cNvPr>
        <p:cNvGrpSpPr/>
        <p:nvPr/>
      </p:nvGrpSpPr>
      <p:grpSpPr>
        <a:xfrm>
          <a:off x="0" y="0"/>
          <a:ext cx="0" cy="0"/>
          <a:chOff x="0" y="0"/>
          <a:chExt cx="0" cy="0"/>
        </a:xfrm>
      </p:grpSpPr>
      <p:sp>
        <p:nvSpPr>
          <p:cNvPr id="253" name="Google Shape;253;p55">
            <a:extLst>
              <a:ext uri="{FF2B5EF4-FFF2-40B4-BE49-F238E27FC236}">
                <a16:creationId xmlns:a16="http://schemas.microsoft.com/office/drawing/2014/main" id="{97018C89-0195-2010-BFAA-496836B586E8}"/>
              </a:ext>
            </a:extLst>
          </p:cNvPr>
          <p:cNvSpPr txBox="1"/>
          <p:nvPr/>
        </p:nvSpPr>
        <p:spPr>
          <a:xfrm>
            <a:off x="504725" y="432700"/>
            <a:ext cx="6420300" cy="490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endParaRPr sz="2000" b="1">
              <a:solidFill>
                <a:srgbClr val="37278E"/>
              </a:solidFill>
            </a:endParaRPr>
          </a:p>
        </p:txBody>
      </p:sp>
      <p:sp>
        <p:nvSpPr>
          <p:cNvPr id="254" name="Google Shape;254;p55">
            <a:extLst>
              <a:ext uri="{FF2B5EF4-FFF2-40B4-BE49-F238E27FC236}">
                <a16:creationId xmlns:a16="http://schemas.microsoft.com/office/drawing/2014/main" id="{08084943-4DE2-8272-F467-7535E415EB60}"/>
              </a:ext>
            </a:extLst>
          </p:cNvPr>
          <p:cNvSpPr txBox="1"/>
          <p:nvPr/>
        </p:nvSpPr>
        <p:spPr>
          <a:xfrm>
            <a:off x="519125" y="185250"/>
            <a:ext cx="8423400" cy="53857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dirty="0">
                <a:solidFill>
                  <a:srgbClr val="37278E"/>
                </a:solidFill>
              </a:rPr>
              <a:t>Giao </a:t>
            </a:r>
            <a:r>
              <a:rPr lang="en" sz="2000" b="1" dirty="0" err="1">
                <a:solidFill>
                  <a:srgbClr val="37278E"/>
                </a:solidFill>
              </a:rPr>
              <a:t>diện</a:t>
            </a:r>
            <a:r>
              <a:rPr lang="en" sz="2000" b="1" dirty="0">
                <a:solidFill>
                  <a:srgbClr val="37278E"/>
                </a:solidFill>
              </a:rPr>
              <a:t> </a:t>
            </a:r>
            <a:r>
              <a:rPr lang="en" sz="2000" b="1" dirty="0" err="1">
                <a:solidFill>
                  <a:srgbClr val="37278E"/>
                </a:solidFill>
              </a:rPr>
              <a:t>tham</a:t>
            </a:r>
            <a:r>
              <a:rPr lang="en" sz="2000" b="1" dirty="0">
                <a:solidFill>
                  <a:srgbClr val="37278E"/>
                </a:solidFill>
              </a:rPr>
              <a:t> </a:t>
            </a:r>
            <a:r>
              <a:rPr lang="en" sz="2000" b="1" dirty="0" err="1">
                <a:solidFill>
                  <a:srgbClr val="37278E"/>
                </a:solidFill>
              </a:rPr>
              <a:t>khảo</a:t>
            </a:r>
            <a:endParaRPr sz="2000" dirty="0"/>
          </a:p>
        </p:txBody>
      </p:sp>
      <p:pic>
        <p:nvPicPr>
          <p:cNvPr id="5" name="Picture 4">
            <a:extLst>
              <a:ext uri="{FF2B5EF4-FFF2-40B4-BE49-F238E27FC236}">
                <a16:creationId xmlns:a16="http://schemas.microsoft.com/office/drawing/2014/main" id="{2342DAA3-137C-60AE-D8C4-827B9E04ABEE}"/>
              </a:ext>
            </a:extLst>
          </p:cNvPr>
          <p:cNvPicPr>
            <a:picLocks noChangeAspect="1"/>
          </p:cNvPicPr>
          <p:nvPr/>
        </p:nvPicPr>
        <p:blipFill>
          <a:blip r:embed="rId3"/>
          <a:stretch>
            <a:fillRect/>
          </a:stretch>
        </p:blipFill>
        <p:spPr>
          <a:xfrm>
            <a:off x="272350" y="756397"/>
            <a:ext cx="2816789" cy="3969913"/>
          </a:xfrm>
          <a:prstGeom prst="rect">
            <a:avLst/>
          </a:prstGeom>
        </p:spPr>
      </p:pic>
      <p:pic>
        <p:nvPicPr>
          <p:cNvPr id="7" name="Picture 6">
            <a:extLst>
              <a:ext uri="{FF2B5EF4-FFF2-40B4-BE49-F238E27FC236}">
                <a16:creationId xmlns:a16="http://schemas.microsoft.com/office/drawing/2014/main" id="{FD9AA039-FAA5-0D30-7FEA-DAF1C8456F0F}"/>
              </a:ext>
            </a:extLst>
          </p:cNvPr>
          <p:cNvPicPr>
            <a:picLocks noChangeAspect="1"/>
          </p:cNvPicPr>
          <p:nvPr/>
        </p:nvPicPr>
        <p:blipFill>
          <a:blip r:embed="rId4"/>
          <a:stretch>
            <a:fillRect/>
          </a:stretch>
        </p:blipFill>
        <p:spPr>
          <a:xfrm>
            <a:off x="3145619" y="723829"/>
            <a:ext cx="3170412" cy="4101721"/>
          </a:xfrm>
          <a:prstGeom prst="rect">
            <a:avLst/>
          </a:prstGeom>
        </p:spPr>
      </p:pic>
      <p:pic>
        <p:nvPicPr>
          <p:cNvPr id="9" name="Picture 8">
            <a:extLst>
              <a:ext uri="{FF2B5EF4-FFF2-40B4-BE49-F238E27FC236}">
                <a16:creationId xmlns:a16="http://schemas.microsoft.com/office/drawing/2014/main" id="{8BE7E536-3BA2-F788-E4D1-B48FAD7BD433}"/>
              </a:ext>
            </a:extLst>
          </p:cNvPr>
          <p:cNvPicPr>
            <a:picLocks noChangeAspect="1"/>
          </p:cNvPicPr>
          <p:nvPr/>
        </p:nvPicPr>
        <p:blipFill>
          <a:blip r:embed="rId5"/>
          <a:stretch>
            <a:fillRect/>
          </a:stretch>
        </p:blipFill>
        <p:spPr>
          <a:xfrm>
            <a:off x="6400451" y="756396"/>
            <a:ext cx="2589514" cy="3954403"/>
          </a:xfrm>
          <a:prstGeom prst="rect">
            <a:avLst/>
          </a:prstGeom>
        </p:spPr>
      </p:pic>
    </p:spTree>
    <p:extLst>
      <p:ext uri="{BB962C8B-B14F-4D97-AF65-F5344CB8AC3E}">
        <p14:creationId xmlns:p14="http://schemas.microsoft.com/office/powerpoint/2010/main" val="221828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56"/>
          <p:cNvSpPr txBox="1">
            <a:spLocks noGrp="1"/>
          </p:cNvSpPr>
          <p:nvPr>
            <p:ph type="title"/>
          </p:nvPr>
        </p:nvSpPr>
        <p:spPr>
          <a:xfrm>
            <a:off x="527100" y="238250"/>
            <a:ext cx="8520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SzPts val="990"/>
              <a:buNone/>
            </a:pPr>
            <a:r>
              <a:rPr lang="en" sz="2000" b="1">
                <a:solidFill>
                  <a:srgbClr val="37278E"/>
                </a:solidFill>
                <a:latin typeface="Arial"/>
                <a:ea typeface="Arial"/>
                <a:cs typeface="Arial"/>
                <a:sym typeface="Arial"/>
              </a:rPr>
              <a:t>Yêu cầu front-end dành cho nhân viên/quản lí (AdminLTE)</a:t>
            </a:r>
            <a:endParaRPr sz="2000" b="1">
              <a:solidFill>
                <a:srgbClr val="37278E"/>
              </a:solidFill>
              <a:latin typeface="Arial"/>
              <a:ea typeface="Arial"/>
              <a:cs typeface="Arial"/>
              <a:sym typeface="Arial"/>
            </a:endParaRPr>
          </a:p>
        </p:txBody>
      </p:sp>
      <p:sp>
        <p:nvSpPr>
          <p:cNvPr id="260" name="Google Shape;260;p56"/>
          <p:cNvSpPr txBox="1">
            <a:spLocks noGrp="1"/>
          </p:cNvSpPr>
          <p:nvPr>
            <p:ph type="body" idx="1"/>
          </p:nvPr>
        </p:nvSpPr>
        <p:spPr>
          <a:xfrm>
            <a:off x="527100" y="810950"/>
            <a:ext cx="8407200" cy="3953400"/>
          </a:xfrm>
          <a:prstGeom prst="rect">
            <a:avLst/>
          </a:prstGeom>
          <a:ln>
            <a:noFill/>
          </a:ln>
        </p:spPr>
        <p:txBody>
          <a:bodyPr spcFirstLastPara="1" wrap="square" lIns="68575" tIns="34275" rIns="68575" bIns="34275" anchor="t" anchorCtr="0">
            <a:noAutofit/>
          </a:bodyPr>
          <a:lstStyle/>
          <a:p>
            <a:pPr marL="457200" lvl="0" indent="-330200" algn="l" rtl="0">
              <a:lnSpc>
                <a:spcPct val="100000"/>
              </a:lnSpc>
              <a:spcBef>
                <a:spcPts val="0"/>
              </a:spcBef>
              <a:spcAft>
                <a:spcPts val="0"/>
              </a:spcAft>
              <a:buSzPts val="1600"/>
              <a:buFont typeface="Arial"/>
              <a:buAutoNum type="arabicPeriod"/>
            </a:pPr>
            <a:r>
              <a:rPr lang="en" sz="1600">
                <a:latin typeface="Arial"/>
                <a:ea typeface="Arial"/>
                <a:cs typeface="Arial"/>
                <a:sym typeface="Arial"/>
              </a:rPr>
              <a:t>Cho phép </a:t>
            </a:r>
            <a:r>
              <a:rPr lang="en" sz="1600">
                <a:solidFill>
                  <a:srgbClr val="00FF00"/>
                </a:solidFill>
                <a:latin typeface="Arial"/>
                <a:ea typeface="Arial"/>
                <a:cs typeface="Arial"/>
                <a:sym typeface="Arial"/>
              </a:rPr>
              <a:t>thêm </a:t>
            </a:r>
            <a:r>
              <a:rPr lang="en" sz="1600">
                <a:solidFill>
                  <a:srgbClr val="FF9900"/>
                </a:solidFill>
                <a:latin typeface="Arial"/>
                <a:ea typeface="Arial"/>
                <a:cs typeface="Arial"/>
                <a:sym typeface="Arial"/>
              </a:rPr>
              <a:t>sửa </a:t>
            </a:r>
            <a:r>
              <a:rPr lang="en" sz="1600">
                <a:solidFill>
                  <a:srgbClr val="FF0000"/>
                </a:solidFill>
                <a:latin typeface="Arial"/>
                <a:ea typeface="Arial"/>
                <a:cs typeface="Arial"/>
                <a:sym typeface="Arial"/>
              </a:rPr>
              <a:t>xóa </a:t>
            </a:r>
            <a:r>
              <a:rPr lang="en" sz="1600">
                <a:latin typeface="Arial"/>
                <a:ea typeface="Arial"/>
                <a:cs typeface="Arial"/>
                <a:sym typeface="Arial"/>
              </a:rPr>
              <a:t>sản phẩm,  dữ liệu sản phẩm lấy từ back-end.</a:t>
            </a:r>
            <a:endParaRPr sz="1600">
              <a:latin typeface="Arial"/>
              <a:ea typeface="Arial"/>
              <a:cs typeface="Arial"/>
              <a:sym typeface="Arial"/>
            </a:endParaRPr>
          </a:p>
          <a:p>
            <a:pPr marL="457200" lvl="0" indent="-330200" algn="l" rtl="0">
              <a:lnSpc>
                <a:spcPct val="100000"/>
              </a:lnSpc>
              <a:spcBef>
                <a:spcPts val="0"/>
              </a:spcBef>
              <a:spcAft>
                <a:spcPts val="0"/>
              </a:spcAft>
              <a:buSzPts val="1600"/>
              <a:buFont typeface="Arial"/>
              <a:buAutoNum type="arabicPeriod"/>
            </a:pPr>
            <a:r>
              <a:rPr lang="en" sz="1600">
                <a:latin typeface="Arial"/>
                <a:ea typeface="Arial"/>
                <a:cs typeface="Arial"/>
                <a:sym typeface="Arial"/>
              </a:rPr>
              <a:t>Cho phép </a:t>
            </a:r>
            <a:r>
              <a:rPr lang="en" sz="1600">
                <a:solidFill>
                  <a:srgbClr val="00FF00"/>
                </a:solidFill>
                <a:latin typeface="Arial"/>
                <a:ea typeface="Arial"/>
                <a:cs typeface="Arial"/>
                <a:sym typeface="Arial"/>
              </a:rPr>
              <a:t>thêm </a:t>
            </a:r>
            <a:r>
              <a:rPr lang="en" sz="1600">
                <a:solidFill>
                  <a:srgbClr val="FF9900"/>
                </a:solidFill>
                <a:latin typeface="Arial"/>
                <a:ea typeface="Arial"/>
                <a:cs typeface="Arial"/>
                <a:sym typeface="Arial"/>
              </a:rPr>
              <a:t>sửa </a:t>
            </a:r>
            <a:r>
              <a:rPr lang="en" sz="1600">
                <a:latin typeface="Arial"/>
                <a:ea typeface="Arial"/>
                <a:cs typeface="Arial"/>
                <a:sym typeface="Arial"/>
              </a:rPr>
              <a:t>khách hàng,  dữ liệu khách hàng lấy từ back-end. </a:t>
            </a:r>
            <a:endParaRPr sz="1600">
              <a:latin typeface="Arial"/>
              <a:ea typeface="Arial"/>
              <a:cs typeface="Arial"/>
              <a:sym typeface="Arial"/>
            </a:endParaRPr>
          </a:p>
          <a:p>
            <a:pPr marL="457200" lvl="0" indent="-330200" algn="l" rtl="0">
              <a:lnSpc>
                <a:spcPct val="100000"/>
              </a:lnSpc>
              <a:spcBef>
                <a:spcPts val="0"/>
              </a:spcBef>
              <a:spcAft>
                <a:spcPts val="0"/>
              </a:spcAft>
              <a:buSzPts val="1600"/>
              <a:buFont typeface="Arial"/>
              <a:buAutoNum type="arabicPeriod"/>
            </a:pPr>
            <a:r>
              <a:rPr lang="en" sz="1600">
                <a:latin typeface="Arial"/>
                <a:ea typeface="Arial"/>
                <a:cs typeface="Arial"/>
                <a:sym typeface="Arial"/>
              </a:rPr>
              <a:t>Cho phép </a:t>
            </a:r>
            <a:r>
              <a:rPr lang="en" sz="1600">
                <a:solidFill>
                  <a:srgbClr val="00FF00"/>
                </a:solidFill>
                <a:latin typeface="Arial"/>
                <a:ea typeface="Arial"/>
                <a:cs typeface="Arial"/>
                <a:sym typeface="Arial"/>
              </a:rPr>
              <a:t>thêm </a:t>
            </a:r>
            <a:r>
              <a:rPr lang="en" sz="1600">
                <a:solidFill>
                  <a:srgbClr val="FF9900"/>
                </a:solidFill>
                <a:latin typeface="Arial"/>
                <a:ea typeface="Arial"/>
                <a:cs typeface="Arial"/>
                <a:sym typeface="Arial"/>
              </a:rPr>
              <a:t>sửa </a:t>
            </a:r>
            <a:r>
              <a:rPr lang="en" sz="1600">
                <a:latin typeface="Arial"/>
                <a:ea typeface="Arial"/>
                <a:cs typeface="Arial"/>
                <a:sym typeface="Arial"/>
              </a:rPr>
              <a:t>order theo khách hàng,  dữ liệu order, khách hàng lấy từ back-end.</a:t>
            </a:r>
            <a:endParaRPr sz="1600">
              <a:latin typeface="Arial"/>
              <a:ea typeface="Arial"/>
              <a:cs typeface="Arial"/>
              <a:sym typeface="Arial"/>
            </a:endParaRPr>
          </a:p>
          <a:p>
            <a:pPr marL="457200" lvl="0" indent="-330200" algn="l" rtl="0">
              <a:lnSpc>
                <a:spcPct val="100000"/>
              </a:lnSpc>
              <a:spcBef>
                <a:spcPts val="0"/>
              </a:spcBef>
              <a:spcAft>
                <a:spcPts val="0"/>
              </a:spcAft>
              <a:buSzPts val="1600"/>
              <a:buFont typeface="Arial"/>
              <a:buAutoNum type="arabicPeriod"/>
            </a:pPr>
            <a:r>
              <a:rPr lang="en" sz="1600">
                <a:latin typeface="Arial"/>
                <a:ea typeface="Arial"/>
                <a:cs typeface="Arial"/>
                <a:sym typeface="Arial"/>
              </a:rPr>
              <a:t>Cho phép xem báo cáo order theo tuần, tháng.</a:t>
            </a:r>
            <a:endParaRPr sz="1600">
              <a:latin typeface="Arial"/>
              <a:ea typeface="Arial"/>
              <a:cs typeface="Arial"/>
              <a:sym typeface="Arial"/>
            </a:endParaRPr>
          </a:p>
          <a:p>
            <a:pPr marL="914400" lvl="1" indent="-330200" algn="l" rtl="0">
              <a:lnSpc>
                <a:spcPct val="100000"/>
              </a:lnSpc>
              <a:spcBef>
                <a:spcPts val="0"/>
              </a:spcBef>
              <a:spcAft>
                <a:spcPts val="0"/>
              </a:spcAft>
              <a:buSzPts val="1600"/>
              <a:buFont typeface="Arial"/>
              <a:buAutoNum type="alphaLcPeriod"/>
            </a:pPr>
            <a:r>
              <a:rPr lang="en" sz="1600">
                <a:latin typeface="Arial"/>
                <a:ea typeface="Arial"/>
                <a:cs typeface="Arial"/>
                <a:sym typeface="Arial"/>
              </a:rPr>
              <a:t>Xem được dạng biểu đồ tổng tiền hàng ngày, hàng tuần</a:t>
            </a:r>
            <a:endParaRPr sz="1600">
              <a:latin typeface="Arial"/>
              <a:ea typeface="Arial"/>
              <a:cs typeface="Arial"/>
              <a:sym typeface="Arial"/>
            </a:endParaRPr>
          </a:p>
          <a:p>
            <a:pPr marL="914400" lvl="1" indent="-330200" algn="l" rtl="0">
              <a:lnSpc>
                <a:spcPct val="100000"/>
              </a:lnSpc>
              <a:spcBef>
                <a:spcPts val="0"/>
              </a:spcBef>
              <a:spcAft>
                <a:spcPts val="0"/>
              </a:spcAft>
              <a:buSzPts val="1600"/>
              <a:buFont typeface="Arial"/>
              <a:buAutoNum type="alphaLcPeriod"/>
            </a:pPr>
            <a:r>
              <a:rPr lang="en" sz="1600">
                <a:latin typeface="Arial"/>
                <a:ea typeface="Arial"/>
                <a:cs typeface="Arial"/>
                <a:sym typeface="Arial"/>
              </a:rPr>
              <a:t>Xuất ra excel file theo thời gian</a:t>
            </a:r>
            <a:endParaRPr sz="1600">
              <a:latin typeface="Arial"/>
              <a:ea typeface="Arial"/>
              <a:cs typeface="Arial"/>
              <a:sym typeface="Arial"/>
            </a:endParaRPr>
          </a:p>
          <a:p>
            <a:pPr marL="457200" lvl="0" indent="-330200" algn="l" rtl="0">
              <a:lnSpc>
                <a:spcPct val="100000"/>
              </a:lnSpc>
              <a:spcBef>
                <a:spcPts val="0"/>
              </a:spcBef>
              <a:spcAft>
                <a:spcPts val="0"/>
              </a:spcAft>
              <a:buSzPts val="1600"/>
              <a:buFont typeface="Arial"/>
              <a:buAutoNum type="arabicPeriod"/>
            </a:pPr>
            <a:r>
              <a:rPr lang="en" sz="1600">
                <a:latin typeface="Arial"/>
                <a:ea typeface="Arial"/>
                <a:cs typeface="Arial"/>
                <a:sym typeface="Arial"/>
              </a:rPr>
              <a:t>Cho phép xem báo cáo khách hàng (Bar chart).</a:t>
            </a:r>
            <a:endParaRPr sz="1600">
              <a:latin typeface="Arial"/>
              <a:ea typeface="Arial"/>
              <a:cs typeface="Arial"/>
              <a:sym typeface="Arial"/>
            </a:endParaRPr>
          </a:p>
          <a:p>
            <a:pPr marL="914400" lvl="1" indent="-330200" algn="l" rtl="0">
              <a:lnSpc>
                <a:spcPct val="100000"/>
              </a:lnSpc>
              <a:spcBef>
                <a:spcPts val="0"/>
              </a:spcBef>
              <a:spcAft>
                <a:spcPts val="0"/>
              </a:spcAft>
              <a:buSzPts val="1600"/>
              <a:buFont typeface="Arial"/>
              <a:buAutoNum type="alphaLcPeriod"/>
            </a:pPr>
            <a:r>
              <a:rPr lang="en" sz="1600">
                <a:latin typeface="Arial"/>
                <a:ea typeface="Arial"/>
                <a:cs typeface="Arial"/>
                <a:sym typeface="Arial"/>
              </a:rPr>
              <a:t>Lọc khách hàng theo tổng số tiền đã mua. Chọn xuất theo nhóm khách hàng ra excel. </a:t>
            </a:r>
            <a:endParaRPr sz="1600">
              <a:latin typeface="Arial"/>
              <a:ea typeface="Arial"/>
              <a:cs typeface="Arial"/>
              <a:sym typeface="Arial"/>
            </a:endParaRPr>
          </a:p>
          <a:p>
            <a:pPr marL="1371600" lvl="2" indent="-330200" algn="l" rtl="0">
              <a:lnSpc>
                <a:spcPct val="100000"/>
              </a:lnSpc>
              <a:spcBef>
                <a:spcPts val="0"/>
              </a:spcBef>
              <a:spcAft>
                <a:spcPts val="0"/>
              </a:spcAft>
              <a:buSzPts val="1600"/>
              <a:buFont typeface="Arial"/>
              <a:buAutoNum type="romanLcPeriod"/>
            </a:pPr>
            <a:r>
              <a:rPr lang="en" sz="1600">
                <a:latin typeface="Arial"/>
                <a:ea typeface="Arial"/>
                <a:cs typeface="Arial"/>
                <a:sym typeface="Arial"/>
              </a:rPr>
              <a:t>Khách hàng có tổng tiền &gt; 50 triệu là Bạch kim.</a:t>
            </a:r>
            <a:endParaRPr sz="1600">
              <a:latin typeface="Arial"/>
              <a:ea typeface="Arial"/>
              <a:cs typeface="Arial"/>
              <a:sym typeface="Arial"/>
            </a:endParaRPr>
          </a:p>
          <a:p>
            <a:pPr marL="1371600" lvl="2" indent="-330200" algn="l" rtl="0">
              <a:lnSpc>
                <a:spcPct val="100000"/>
              </a:lnSpc>
              <a:spcBef>
                <a:spcPts val="0"/>
              </a:spcBef>
              <a:spcAft>
                <a:spcPts val="0"/>
              </a:spcAft>
              <a:buSzPts val="1600"/>
              <a:buFont typeface="Arial"/>
              <a:buAutoNum type="romanLcPeriod"/>
            </a:pPr>
            <a:r>
              <a:rPr lang="en" sz="1600">
                <a:latin typeface="Arial"/>
                <a:ea typeface="Arial"/>
                <a:cs typeface="Arial"/>
                <a:sym typeface="Arial"/>
              </a:rPr>
              <a:t>Khách hàng có tổng tiền &gt; 20 triệu là Vàng.</a:t>
            </a:r>
            <a:endParaRPr sz="1600">
              <a:latin typeface="Arial"/>
              <a:ea typeface="Arial"/>
              <a:cs typeface="Arial"/>
              <a:sym typeface="Arial"/>
            </a:endParaRPr>
          </a:p>
          <a:p>
            <a:pPr marL="1371600" lvl="2" indent="-330200" algn="l" rtl="0">
              <a:lnSpc>
                <a:spcPct val="100000"/>
              </a:lnSpc>
              <a:spcBef>
                <a:spcPts val="0"/>
              </a:spcBef>
              <a:spcAft>
                <a:spcPts val="0"/>
              </a:spcAft>
              <a:buSzPts val="1600"/>
              <a:buFont typeface="Arial"/>
              <a:buAutoNum type="romanLcPeriod"/>
            </a:pPr>
            <a:r>
              <a:rPr lang="en" sz="1600">
                <a:latin typeface="Arial"/>
                <a:ea typeface="Arial"/>
                <a:cs typeface="Arial"/>
                <a:sym typeface="Arial"/>
              </a:rPr>
              <a:t>Khách hàng có tổng tiền &gt; 10 triệu là Bạc.</a:t>
            </a:r>
            <a:endParaRPr sz="1600">
              <a:latin typeface="Arial"/>
              <a:ea typeface="Arial"/>
              <a:cs typeface="Arial"/>
              <a:sym typeface="Arial"/>
            </a:endParaRPr>
          </a:p>
          <a:p>
            <a:pPr marL="1371600" lvl="2" indent="-330200" algn="l" rtl="0">
              <a:lnSpc>
                <a:spcPct val="100000"/>
              </a:lnSpc>
              <a:spcBef>
                <a:spcPts val="0"/>
              </a:spcBef>
              <a:spcAft>
                <a:spcPts val="0"/>
              </a:spcAft>
              <a:buSzPts val="1600"/>
              <a:buFont typeface="Arial"/>
              <a:buAutoNum type="romanLcPeriod"/>
            </a:pPr>
            <a:r>
              <a:rPr lang="en" sz="1600">
                <a:latin typeface="Arial"/>
                <a:ea typeface="Arial"/>
                <a:cs typeface="Arial"/>
                <a:sym typeface="Arial"/>
              </a:rPr>
              <a:t>Khách hàng có tổng tiền &gt; 5 triệu là Vip.</a:t>
            </a:r>
            <a:endParaRPr sz="1600">
              <a:latin typeface="Arial"/>
              <a:ea typeface="Arial"/>
              <a:cs typeface="Arial"/>
              <a:sym typeface="Arial"/>
            </a:endParaRPr>
          </a:p>
          <a:p>
            <a:pPr marL="914400" lvl="1" indent="-330200" algn="l" rtl="0">
              <a:lnSpc>
                <a:spcPct val="100000"/>
              </a:lnSpc>
              <a:spcBef>
                <a:spcPts val="0"/>
              </a:spcBef>
              <a:spcAft>
                <a:spcPts val="0"/>
              </a:spcAft>
              <a:buSzPts val="1600"/>
              <a:buFont typeface="Arial"/>
              <a:buAutoNum type="alphaLcPeriod"/>
            </a:pPr>
            <a:r>
              <a:rPr lang="en" sz="1600">
                <a:latin typeface="Arial"/>
                <a:ea typeface="Arial"/>
                <a:cs typeface="Arial"/>
                <a:sym typeface="Arial"/>
              </a:rPr>
              <a:t>Lọc khách hàng theo tổng số order đã mua</a:t>
            </a:r>
            <a:endParaRPr sz="16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57"/>
          <p:cNvPicPr preferRelativeResize="0"/>
          <p:nvPr/>
        </p:nvPicPr>
        <p:blipFill>
          <a:blip r:embed="rId3">
            <a:alphaModFix/>
          </a:blip>
          <a:stretch>
            <a:fillRect/>
          </a:stretch>
        </p:blipFill>
        <p:spPr>
          <a:xfrm>
            <a:off x="395436" y="0"/>
            <a:ext cx="7669914"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graphicFrame>
        <p:nvGraphicFramePr>
          <p:cNvPr id="270" name="Google Shape;270;p58"/>
          <p:cNvGraphicFramePr/>
          <p:nvPr/>
        </p:nvGraphicFramePr>
        <p:xfrm>
          <a:off x="635975" y="802135"/>
          <a:ext cx="3000000" cy="3000000"/>
        </p:xfrm>
        <a:graphic>
          <a:graphicData uri="http://schemas.openxmlformats.org/drawingml/2006/table">
            <a:tbl>
              <a:tblPr>
                <a:noFill/>
                <a:tableStyleId>{3DA0D7C3-B8E4-4839-944F-2DC09C36CC15}</a:tableStyleId>
              </a:tblPr>
              <a:tblGrid>
                <a:gridCol w="828075">
                  <a:extLst>
                    <a:ext uri="{9D8B030D-6E8A-4147-A177-3AD203B41FA5}">
                      <a16:colId xmlns:a16="http://schemas.microsoft.com/office/drawing/2014/main" val="20000"/>
                    </a:ext>
                  </a:extLst>
                </a:gridCol>
                <a:gridCol w="3734300">
                  <a:extLst>
                    <a:ext uri="{9D8B030D-6E8A-4147-A177-3AD203B41FA5}">
                      <a16:colId xmlns:a16="http://schemas.microsoft.com/office/drawing/2014/main" val="20001"/>
                    </a:ext>
                  </a:extLst>
                </a:gridCol>
                <a:gridCol w="3758350">
                  <a:extLst>
                    <a:ext uri="{9D8B030D-6E8A-4147-A177-3AD203B41FA5}">
                      <a16:colId xmlns:a16="http://schemas.microsoft.com/office/drawing/2014/main" val="20002"/>
                    </a:ext>
                  </a:extLst>
                </a:gridCol>
              </a:tblGrid>
              <a:tr h="402200">
                <a:tc>
                  <a:txBody>
                    <a:bodyPr/>
                    <a:lstStyle/>
                    <a:p>
                      <a:pPr marL="0" lvl="0" indent="0" algn="ctr" rtl="0">
                        <a:spcBef>
                          <a:spcPts val="0"/>
                        </a:spcBef>
                        <a:spcAft>
                          <a:spcPts val="0"/>
                        </a:spcAft>
                        <a:buNone/>
                      </a:pPr>
                      <a:r>
                        <a:rPr lang="en" sz="1300" b="1"/>
                        <a:t>Ngày</a:t>
                      </a:r>
                      <a:endParaRPr sz="1300"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ctr" rtl="0">
                        <a:spcBef>
                          <a:spcPts val="0"/>
                        </a:spcBef>
                        <a:spcAft>
                          <a:spcPts val="0"/>
                        </a:spcAft>
                        <a:buNone/>
                      </a:pPr>
                      <a:r>
                        <a:rPr lang="en" sz="1300" b="1"/>
                        <a:t>Tiến độ mong muốn</a:t>
                      </a:r>
                      <a:endParaRPr sz="1300"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ctr" rtl="0">
                        <a:spcBef>
                          <a:spcPts val="0"/>
                        </a:spcBef>
                        <a:spcAft>
                          <a:spcPts val="0"/>
                        </a:spcAft>
                        <a:buNone/>
                      </a:pPr>
                      <a:r>
                        <a:rPr lang="en" sz="1300" b="1"/>
                        <a:t>Tiến độ tối thiểu</a:t>
                      </a:r>
                      <a:endParaRPr sz="1300"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0"/>
                  </a:ext>
                </a:extLst>
              </a:tr>
              <a:tr h="632150">
                <a:tc>
                  <a:txBody>
                    <a:bodyPr/>
                    <a:lstStyle/>
                    <a:p>
                      <a:pPr marL="0" lvl="0" indent="0" algn="l" rtl="0">
                        <a:spcBef>
                          <a:spcPts val="0"/>
                        </a:spcBef>
                        <a:spcAft>
                          <a:spcPts val="0"/>
                        </a:spcAft>
                        <a:buNone/>
                      </a:pPr>
                      <a:r>
                        <a:rPr lang="en" sz="1300"/>
                        <a:t>1</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Hiểu dự án, tạo giao diện trang chủ customer, làm backend (MySQL), Hoàn thành trang chủ</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Hiểu dự án, tạo giao diện trang chủ, làm backend (clone từ bài MySQL, tạo được bảng trên PHPMyAdmin)</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1"/>
                  </a:ext>
                </a:extLst>
              </a:tr>
              <a:tr h="658775">
                <a:tc>
                  <a:txBody>
                    <a:bodyPr/>
                    <a:lstStyle/>
                    <a:p>
                      <a:pPr marL="0" lvl="0" indent="0" algn="l" rtl="0">
                        <a:spcBef>
                          <a:spcPts val="0"/>
                        </a:spcBef>
                        <a:spcAft>
                          <a:spcPts val="0"/>
                        </a:spcAft>
                        <a:buNone/>
                      </a:pPr>
                      <a:r>
                        <a:rPr lang="en" sz="1300"/>
                        <a:t>2</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Làm giao diện danh mục sản phẩm: phân trang limit offset, fillter (tên, giá, loại, ..)</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Làm giao diện danh mục sản phẩm</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2"/>
                  </a:ext>
                </a:extLst>
              </a:tr>
              <a:tr h="885875">
                <a:tc>
                  <a:txBody>
                    <a:bodyPr/>
                    <a:lstStyle/>
                    <a:p>
                      <a:pPr marL="0" lvl="0" indent="0" algn="l" rtl="0">
                        <a:spcBef>
                          <a:spcPts val="0"/>
                        </a:spcBef>
                        <a:spcAft>
                          <a:spcPts val="0"/>
                        </a:spcAft>
                        <a:buNone/>
                      </a:pPr>
                      <a:r>
                        <a:rPr lang="en" sz="1300"/>
                        <a:t>3</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Làm giao diện chi tiết sản phẩm và đặt hàng (API, backend)</a:t>
                      </a:r>
                      <a:endParaRPr sz="1300"/>
                    </a:p>
                    <a:p>
                      <a:pPr marL="0" lvl="0" indent="0" algn="l" rtl="0">
                        <a:spcBef>
                          <a:spcPts val="0"/>
                        </a:spcBef>
                        <a:spcAft>
                          <a:spcPts val="0"/>
                        </a:spcAft>
                        <a:buNone/>
                      </a:pPr>
                      <a:r>
                        <a:rPr lang="en" sz="1300"/>
                        <a:t>Tạo 2 project trên Gitlab (ShopPlus-backend, ShopPlus-frontend)</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Làm giao diện chi tiết sản phẩm, giao diện đặt hàng</a:t>
                      </a:r>
                      <a:endParaRPr sz="1300"/>
                    </a:p>
                    <a:p>
                      <a:pPr marL="0" lvl="0" indent="0" algn="l" rtl="0">
                        <a:spcBef>
                          <a:spcPts val="0"/>
                        </a:spcBef>
                        <a:spcAft>
                          <a:spcPts val="0"/>
                        </a:spcAft>
                        <a:buNone/>
                      </a:pPr>
                      <a:r>
                        <a:rPr lang="en" sz="1300"/>
                        <a:t>Tạo 2 project trên Gitlab (ShopPlus-backend, ShopPlus-frontend)</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3"/>
                  </a:ext>
                </a:extLst>
              </a:tr>
              <a:tr h="618775">
                <a:tc>
                  <a:txBody>
                    <a:bodyPr/>
                    <a:lstStyle/>
                    <a:p>
                      <a:pPr marL="0" lvl="0" indent="0" algn="l" rtl="0">
                        <a:spcBef>
                          <a:spcPts val="0"/>
                        </a:spcBef>
                        <a:spcAft>
                          <a:spcPts val="0"/>
                        </a:spcAft>
                        <a:buNone/>
                      </a:pPr>
                      <a:r>
                        <a:rPr lang="en" sz="1300"/>
                        <a:t>4</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Làm giao diện chi tiết sản phẩm và đặt hàng (API, backend)</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Làm giao diện chi tiết sản phẩm và đặt hàng (API, backend)</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4"/>
                  </a:ext>
                </a:extLst>
              </a:tr>
              <a:tr h="618775">
                <a:tc>
                  <a:txBody>
                    <a:bodyPr/>
                    <a:lstStyle/>
                    <a:p>
                      <a:pPr marL="0" lvl="0" indent="0" algn="l" rtl="0">
                        <a:spcBef>
                          <a:spcPts val="0"/>
                        </a:spcBef>
                        <a:spcAft>
                          <a:spcPts val="0"/>
                        </a:spcAft>
                        <a:buNone/>
                      </a:pPr>
                      <a:r>
                        <a:rPr lang="en" sz="1300"/>
                        <a:t>5,6,7</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Hoàn thành giao diện Admin Dashboard</a:t>
                      </a:r>
                      <a:endParaRPr sz="1300"/>
                    </a:p>
                    <a:p>
                      <a:pPr marL="0" lvl="0" indent="0" algn="l" rtl="0">
                        <a:spcBef>
                          <a:spcPts val="0"/>
                        </a:spcBef>
                        <a:spcAft>
                          <a:spcPts val="0"/>
                        </a:spcAft>
                        <a:buNone/>
                      </a:pPr>
                      <a:r>
                        <a:rPr lang="en" sz="1300"/>
                        <a:t>Làm 1 slide trình bày dự án mà mình đã làm. Điền link vào file README.MD để vào git</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t>Hoàn thành giao diện Admin Dashboard</a:t>
                      </a:r>
                      <a:endParaRPr sz="1300"/>
                    </a:p>
                    <a:p>
                      <a:pPr marL="0" lvl="0" indent="0" algn="l" rtl="0">
                        <a:spcBef>
                          <a:spcPts val="0"/>
                        </a:spcBef>
                        <a:spcAft>
                          <a:spcPts val="0"/>
                        </a:spcAft>
                        <a:buNone/>
                      </a:pPr>
                      <a:r>
                        <a:rPr lang="en" sz="1300"/>
                        <a:t>Làm 1 slide trình bày dự án mà mình đã làm.</a:t>
                      </a:r>
                      <a:endParaRPr sz="1300"/>
                    </a:p>
                    <a:p>
                      <a:pPr marL="0" lvl="0" indent="0" algn="l" rtl="0">
                        <a:spcBef>
                          <a:spcPts val="0"/>
                        </a:spcBef>
                        <a:spcAft>
                          <a:spcPts val="0"/>
                        </a:spcAft>
                        <a:buNone/>
                      </a:pPr>
                      <a:r>
                        <a:rPr lang="en" sz="1300"/>
                        <a:t>Điền link vào file README.MD để vào git</a:t>
                      </a:r>
                      <a:endParaRPr sz="1300"/>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71" name="Google Shape;271;p58"/>
          <p:cNvSpPr txBox="1"/>
          <p:nvPr/>
        </p:nvSpPr>
        <p:spPr>
          <a:xfrm>
            <a:off x="533400" y="210875"/>
            <a:ext cx="7456800" cy="49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37278E"/>
                </a:solidFill>
              </a:rPr>
              <a:t>Yêu cầu về tiến độ</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59"/>
          <p:cNvSpPr txBox="1">
            <a:spLocks noGrp="1"/>
          </p:cNvSpPr>
          <p:nvPr>
            <p:ph type="title"/>
          </p:nvPr>
        </p:nvSpPr>
        <p:spPr>
          <a:xfrm>
            <a:off x="528425" y="269500"/>
            <a:ext cx="7030500" cy="562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sz="2000" b="1">
                <a:solidFill>
                  <a:srgbClr val="37278E"/>
                </a:solidFill>
                <a:latin typeface="Arial"/>
                <a:ea typeface="Arial"/>
                <a:cs typeface="Arial"/>
                <a:sym typeface="Arial"/>
              </a:rPr>
              <a:t>Chi tiết tiến độ</a:t>
            </a:r>
            <a:endParaRPr sz="2000" b="1">
              <a:solidFill>
                <a:srgbClr val="37278E"/>
              </a:solidFill>
              <a:latin typeface="Arial"/>
              <a:ea typeface="Arial"/>
              <a:cs typeface="Arial"/>
              <a:sym typeface="Arial"/>
            </a:endParaRPr>
          </a:p>
        </p:txBody>
      </p:sp>
      <p:graphicFrame>
        <p:nvGraphicFramePr>
          <p:cNvPr id="277" name="Google Shape;277;p59"/>
          <p:cNvGraphicFramePr/>
          <p:nvPr/>
        </p:nvGraphicFramePr>
        <p:xfrm>
          <a:off x="667375" y="882825"/>
          <a:ext cx="3000000" cy="3000000"/>
        </p:xfrm>
        <a:graphic>
          <a:graphicData uri="http://schemas.openxmlformats.org/drawingml/2006/table">
            <a:tbl>
              <a:tblPr>
                <a:noFill/>
                <a:tableStyleId>{3DA0D7C3-B8E4-4839-944F-2DC09C36CC15}</a:tableStyleId>
              </a:tblPr>
              <a:tblGrid>
                <a:gridCol w="647175">
                  <a:extLst>
                    <a:ext uri="{9D8B030D-6E8A-4147-A177-3AD203B41FA5}">
                      <a16:colId xmlns:a16="http://schemas.microsoft.com/office/drawing/2014/main" val="20000"/>
                    </a:ext>
                  </a:extLst>
                </a:gridCol>
                <a:gridCol w="6541975">
                  <a:extLst>
                    <a:ext uri="{9D8B030D-6E8A-4147-A177-3AD203B41FA5}">
                      <a16:colId xmlns:a16="http://schemas.microsoft.com/office/drawing/2014/main" val="20001"/>
                    </a:ext>
                  </a:extLst>
                </a:gridCol>
                <a:gridCol w="1013700">
                  <a:extLst>
                    <a:ext uri="{9D8B030D-6E8A-4147-A177-3AD203B41FA5}">
                      <a16:colId xmlns:a16="http://schemas.microsoft.com/office/drawing/2014/main" val="20002"/>
                    </a:ext>
                  </a:extLst>
                </a:gridCol>
              </a:tblGrid>
              <a:tr h="396200">
                <a:tc>
                  <a:txBody>
                    <a:bodyPr/>
                    <a:lstStyle/>
                    <a:p>
                      <a:pPr marL="0" lvl="0" indent="0" algn="l" rtl="0">
                        <a:spcBef>
                          <a:spcPts val="0"/>
                        </a:spcBef>
                        <a:spcAft>
                          <a:spcPts val="0"/>
                        </a:spcAft>
                        <a:buNone/>
                      </a:pPr>
                      <a:r>
                        <a:rPr lang="en" b="1"/>
                        <a:t>Task</a:t>
                      </a:r>
                      <a:endParaRPr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b="1"/>
                        <a:t>Yêu cầu</a:t>
                      </a:r>
                      <a:endParaRPr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b="1"/>
                        <a:t>Thời gian</a:t>
                      </a:r>
                      <a:endParaRPr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Làm chức năng quản lý người dùng: Khách hàng, Admin</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1 day</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1"/>
                  </a:ext>
                </a:extLst>
              </a:tr>
              <a:tr h="396200">
                <a:tc>
                  <a:txBody>
                    <a:bodyPr/>
                    <a:lstStyle/>
                    <a:p>
                      <a:pPr marL="0" lvl="0" indent="0" algn="l" rtl="0">
                        <a:spcBef>
                          <a:spcPts val="0"/>
                        </a:spcBef>
                        <a:spcAft>
                          <a:spcPts val="0"/>
                        </a:spcAft>
                        <a:buNone/>
                      </a:pPr>
                      <a:r>
                        <a:rPr lang="en"/>
                        <a:t>2</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Làm chức năng đăng nhập, đăng ký cho người dùng (</a:t>
                      </a:r>
                      <a:r>
                        <a:rPr lang="en" u="sng">
                          <a:solidFill>
                            <a:srgbClr val="00ADEE"/>
                          </a:solidFill>
                          <a:hlinkClick r:id="rId3">
                            <a:extLst>
                              <a:ext uri="{A12FA001-AC4F-418D-AE19-62706E023703}">
                                <ahyp:hlinkClr xmlns:ahyp="http://schemas.microsoft.com/office/drawing/2018/hyperlinkcolor" val="tx"/>
                              </a:ext>
                            </a:extLst>
                          </a:hlinkClick>
                        </a:rPr>
                        <a:t>tham khảo</a:t>
                      </a:r>
                      <a:r>
                        <a:rPr lang="en"/>
                        <a:t>)</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1 day</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lvl="0" indent="0" algn="l" rtl="0">
                        <a:spcBef>
                          <a:spcPts val="0"/>
                        </a:spcBef>
                        <a:spcAft>
                          <a:spcPts val="0"/>
                        </a:spcAft>
                        <a:buNone/>
                      </a:pPr>
                      <a:r>
                        <a:rPr lang="en"/>
                        <a:t>3</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solidFill>
                            <a:srgbClr val="050505"/>
                          </a:solidFill>
                        </a:rPr>
                        <a:t>Phân quyền hệ thống (Admin vào giao diện quản trị, Khách hàng vào giao diện dành cho khách hàng)</a:t>
                      </a:r>
                      <a:endParaRPr>
                        <a:solidFill>
                          <a:srgbClr val="050505"/>
                        </a:solidFill>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1 day</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3"/>
                  </a:ext>
                </a:extLst>
              </a:tr>
              <a:tr h="396200">
                <a:tc>
                  <a:txBody>
                    <a:bodyPr/>
                    <a:lstStyle/>
                    <a:p>
                      <a:pPr marL="0" lvl="0" indent="0" algn="l" rtl="0">
                        <a:spcBef>
                          <a:spcPts val="0"/>
                        </a:spcBef>
                        <a:spcAft>
                          <a:spcPts val="0"/>
                        </a:spcAft>
                        <a:buNone/>
                      </a:pPr>
                      <a:r>
                        <a:rPr lang="en"/>
                        <a:t>4</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solidFill>
                            <a:srgbClr val="050505"/>
                          </a:solidFill>
                        </a:rPr>
                        <a:t>Xem thông tin đơn hàng của tôi</a:t>
                      </a:r>
                      <a:endParaRPr>
                        <a:solidFill>
                          <a:srgbClr val="050505"/>
                        </a:solidFill>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1 day</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lvl="0" indent="0" algn="l" rtl="0">
                        <a:spcBef>
                          <a:spcPts val="0"/>
                        </a:spcBef>
                        <a:spcAft>
                          <a:spcPts val="0"/>
                        </a:spcAft>
                        <a:buNone/>
                      </a:pPr>
                      <a:r>
                        <a:rPr lang="en"/>
                        <a:t>5</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solidFill>
                            <a:srgbClr val="050505"/>
                          </a:solidFill>
                        </a:rPr>
                        <a:t>Chức năng khách hàng đánh giá sản phẩm đã mua (rating)</a:t>
                      </a:r>
                      <a:endParaRPr>
                        <a:solidFill>
                          <a:srgbClr val="050505"/>
                        </a:solidFill>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1 day</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5"/>
                  </a:ext>
                </a:extLst>
              </a:tr>
              <a:tr h="396200">
                <a:tc>
                  <a:txBody>
                    <a:bodyPr/>
                    <a:lstStyle/>
                    <a:p>
                      <a:pPr marL="0" lvl="0" indent="0" algn="l" rtl="0">
                        <a:spcBef>
                          <a:spcPts val="0"/>
                        </a:spcBef>
                        <a:spcAft>
                          <a:spcPts val="0"/>
                        </a:spcAft>
                        <a:buNone/>
                      </a:pPr>
                      <a:r>
                        <a:rPr lang="en"/>
                        <a:t>6</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solidFill>
                            <a:srgbClr val="050505"/>
                          </a:solidFill>
                        </a:rPr>
                        <a:t>Chức năng cho khách hàng viết review các sản phẩm đã mua</a:t>
                      </a:r>
                      <a:endParaRPr>
                        <a:solidFill>
                          <a:srgbClr val="050505"/>
                        </a:solidFill>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1 day</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6"/>
                  </a:ext>
                </a:extLst>
              </a:tr>
              <a:tr h="396200">
                <a:tc>
                  <a:txBody>
                    <a:bodyPr/>
                    <a:lstStyle/>
                    <a:p>
                      <a:pPr marL="0" lvl="0" indent="0" algn="l" rtl="0">
                        <a:spcBef>
                          <a:spcPts val="0"/>
                        </a:spcBef>
                        <a:spcAft>
                          <a:spcPts val="0"/>
                        </a:spcAft>
                        <a:buNone/>
                      </a:pPr>
                      <a:r>
                        <a:rPr lang="en"/>
                        <a:t>7</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solidFill>
                            <a:srgbClr val="050505"/>
                          </a:solidFill>
                        </a:rPr>
                        <a:t>Chức năng cho quản trị xem, xóa review</a:t>
                      </a:r>
                      <a:endParaRPr>
                        <a:solidFill>
                          <a:srgbClr val="050505"/>
                        </a:solidFill>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1 day</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7"/>
                  </a:ext>
                </a:extLst>
              </a:tr>
              <a:tr h="396200">
                <a:tc>
                  <a:txBody>
                    <a:bodyPr/>
                    <a:lstStyle/>
                    <a:p>
                      <a:pPr marL="0" lvl="0" indent="0" algn="l" rtl="0">
                        <a:spcBef>
                          <a:spcPts val="0"/>
                        </a:spcBef>
                        <a:spcAft>
                          <a:spcPts val="0"/>
                        </a:spcAft>
                        <a:buNone/>
                      </a:pPr>
                      <a:r>
                        <a:rPr lang="en"/>
                        <a:t>8</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sz="1300">
                          <a:solidFill>
                            <a:srgbClr val="050505"/>
                          </a:solidFill>
                        </a:rPr>
                        <a:t>Làm 1 slide trình bày dự án mà mình đã làm. Điền link vào file README.MD để vào git</a:t>
                      </a:r>
                      <a:endParaRPr sz="1300">
                        <a:solidFill>
                          <a:srgbClr val="050505"/>
                        </a:solidFill>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endParaRPr sz="1300">
                        <a:solidFill>
                          <a:srgbClr val="434343"/>
                        </a:solidFill>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60"/>
          <p:cNvSpPr txBox="1">
            <a:spLocks noGrp="1"/>
          </p:cNvSpPr>
          <p:nvPr>
            <p:ph type="title"/>
          </p:nvPr>
        </p:nvSpPr>
        <p:spPr>
          <a:xfrm>
            <a:off x="559350" y="423350"/>
            <a:ext cx="7505700" cy="4968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SzPts val="990"/>
              <a:buNone/>
            </a:pPr>
            <a:r>
              <a:rPr lang="en" sz="2000" b="1">
                <a:solidFill>
                  <a:srgbClr val="37278E"/>
                </a:solidFill>
                <a:latin typeface="Arial"/>
                <a:ea typeface="Arial"/>
                <a:cs typeface="Arial"/>
                <a:sym typeface="Arial"/>
              </a:rPr>
              <a:t>Yêu cầu về hoạt động hàng ngày</a:t>
            </a:r>
            <a:endParaRPr sz="2000" b="1">
              <a:solidFill>
                <a:srgbClr val="37278E"/>
              </a:solidFill>
              <a:latin typeface="Arial"/>
              <a:ea typeface="Arial"/>
              <a:cs typeface="Arial"/>
              <a:sym typeface="Arial"/>
            </a:endParaRPr>
          </a:p>
        </p:txBody>
      </p:sp>
      <p:graphicFrame>
        <p:nvGraphicFramePr>
          <p:cNvPr id="283" name="Google Shape;283;p60"/>
          <p:cNvGraphicFramePr/>
          <p:nvPr/>
        </p:nvGraphicFramePr>
        <p:xfrm>
          <a:off x="641075" y="1108725"/>
          <a:ext cx="3000000" cy="3000000"/>
        </p:xfrm>
        <a:graphic>
          <a:graphicData uri="http://schemas.openxmlformats.org/drawingml/2006/table">
            <a:tbl>
              <a:tblPr>
                <a:noFill/>
                <a:tableStyleId>{3DA0D7C3-B8E4-4839-944F-2DC09C36CC15}</a:tableStyleId>
              </a:tblPr>
              <a:tblGrid>
                <a:gridCol w="542625">
                  <a:extLst>
                    <a:ext uri="{9D8B030D-6E8A-4147-A177-3AD203B41FA5}">
                      <a16:colId xmlns:a16="http://schemas.microsoft.com/office/drawing/2014/main" val="20000"/>
                    </a:ext>
                  </a:extLst>
                </a:gridCol>
                <a:gridCol w="3814800">
                  <a:extLst>
                    <a:ext uri="{9D8B030D-6E8A-4147-A177-3AD203B41FA5}">
                      <a16:colId xmlns:a16="http://schemas.microsoft.com/office/drawing/2014/main" val="20001"/>
                    </a:ext>
                  </a:extLst>
                </a:gridCol>
                <a:gridCol w="2011025">
                  <a:extLst>
                    <a:ext uri="{9D8B030D-6E8A-4147-A177-3AD203B41FA5}">
                      <a16:colId xmlns:a16="http://schemas.microsoft.com/office/drawing/2014/main" val="20002"/>
                    </a:ext>
                  </a:extLst>
                </a:gridCol>
                <a:gridCol w="150792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b="1"/>
                        <a:t>#</a:t>
                      </a:r>
                      <a:endParaRPr b="1"/>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b="1"/>
                        <a:t>Công việc</a:t>
                      </a:r>
                      <a:endParaRPr b="1"/>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b="1"/>
                        <a:t>Deadline (hàng ngày)</a:t>
                      </a:r>
                      <a:endParaRPr b="1"/>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b="1"/>
                        <a:t>Kênh</a:t>
                      </a:r>
                      <a:endParaRPr b="1"/>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1</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t>Daily Scrum </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t>Dev team</a:t>
                      </a:r>
                      <a:endParaRPr/>
                    </a:p>
                    <a:p>
                      <a:pPr marL="0" lvl="0" indent="0" algn="l" rtl="0">
                        <a:spcBef>
                          <a:spcPts val="0"/>
                        </a:spcBef>
                        <a:spcAft>
                          <a:spcPts val="0"/>
                        </a:spcAft>
                        <a:buNone/>
                      </a:pPr>
                      <a:r>
                        <a:rPr lang="en"/>
                        <a:t>Tím theo lịch</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t>Group (zalo) </a:t>
                      </a:r>
                      <a:endParaRPr/>
                    </a:p>
                    <a:p>
                      <a:pPr marL="0" lvl="0" indent="0" algn="l" rtl="0">
                        <a:spcBef>
                          <a:spcPts val="0"/>
                        </a:spcBef>
                        <a:spcAft>
                          <a:spcPts val="0"/>
                        </a:spcAft>
                        <a:buNone/>
                      </a:pPr>
                      <a:r>
                        <a:rPr lang="en"/>
                        <a:t>Phòng Tím</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2</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b="1"/>
                        <a:t>Commit code + commit database</a:t>
                      </a:r>
                      <a:r>
                        <a:rPr lang="en"/>
                        <a:t> lên GIT (ít nhất 1 commit)</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t>Hàng ngày, trước daily scrum</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t>Gitlab</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3</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t>Tạo task, cập nhật tiến độ (đính kèm ảnh sản phẩm)</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t>trước daily scrum</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
                        <a:t>Trello </a:t>
                      </a: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61"/>
          <p:cNvSpPr txBox="1">
            <a:spLocks noGrp="1"/>
          </p:cNvSpPr>
          <p:nvPr>
            <p:ph type="title"/>
          </p:nvPr>
        </p:nvSpPr>
        <p:spPr>
          <a:xfrm>
            <a:off x="508900" y="390225"/>
            <a:ext cx="7505700" cy="7257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SzPts val="990"/>
              <a:buNone/>
            </a:pPr>
            <a:r>
              <a:rPr lang="en" sz="2000" b="1">
                <a:solidFill>
                  <a:srgbClr val="37278E"/>
                </a:solidFill>
                <a:latin typeface="Arial"/>
                <a:ea typeface="Arial"/>
                <a:cs typeface="Arial"/>
                <a:sym typeface="Arial"/>
              </a:rPr>
              <a:t>Kênh trợ giúp:</a:t>
            </a:r>
            <a:endParaRPr sz="2000" b="1">
              <a:solidFill>
                <a:srgbClr val="37278E"/>
              </a:solidFill>
              <a:latin typeface="Arial"/>
              <a:ea typeface="Arial"/>
              <a:cs typeface="Arial"/>
              <a:sym typeface="Arial"/>
            </a:endParaRPr>
          </a:p>
        </p:txBody>
      </p:sp>
      <p:graphicFrame>
        <p:nvGraphicFramePr>
          <p:cNvPr id="289" name="Google Shape;289;p61"/>
          <p:cNvGraphicFramePr/>
          <p:nvPr/>
        </p:nvGraphicFramePr>
        <p:xfrm>
          <a:off x="642250" y="1163375"/>
          <a:ext cx="3000000" cy="3000000"/>
        </p:xfrm>
        <a:graphic>
          <a:graphicData uri="http://schemas.openxmlformats.org/drawingml/2006/table">
            <a:tbl>
              <a:tblPr>
                <a:noFill/>
                <a:tableStyleId>{3DA0D7C3-B8E4-4839-944F-2DC09C36CC15}</a:tableStyleId>
              </a:tblPr>
              <a:tblGrid>
                <a:gridCol w="624925">
                  <a:extLst>
                    <a:ext uri="{9D8B030D-6E8A-4147-A177-3AD203B41FA5}">
                      <a16:colId xmlns:a16="http://schemas.microsoft.com/office/drawing/2014/main" val="20000"/>
                    </a:ext>
                  </a:extLst>
                </a:gridCol>
                <a:gridCol w="3326650">
                  <a:extLst>
                    <a:ext uri="{9D8B030D-6E8A-4147-A177-3AD203B41FA5}">
                      <a16:colId xmlns:a16="http://schemas.microsoft.com/office/drawing/2014/main" val="20001"/>
                    </a:ext>
                  </a:extLst>
                </a:gridCol>
                <a:gridCol w="32874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b="1"/>
                        <a:t>#</a:t>
                      </a:r>
                      <a:endParaRPr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b="1"/>
                        <a:t>Công việc</a:t>
                      </a:r>
                      <a:endParaRPr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b="1"/>
                        <a:t>Kênh</a:t>
                      </a:r>
                      <a:endParaRPr b="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1</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Phòng TÍM </a:t>
                      </a:r>
                      <a:r>
                        <a:rPr lang="en" i="1"/>
                        <a:t>(sau báo cáo)</a:t>
                      </a:r>
                      <a:endParaRPr i="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Phòng TÍM</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2</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Phòng CAM </a:t>
                      </a:r>
                      <a:endParaRPr i="1"/>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Phòng CAM</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3</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Phòng CAM hẹn trước</a:t>
                      </a:r>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tc>
                  <a:txBody>
                    <a:bodyPr/>
                    <a:lstStyle/>
                    <a:p>
                      <a:pPr marL="0" lvl="0" indent="0" algn="l" rtl="0">
                        <a:spcBef>
                          <a:spcPts val="0"/>
                        </a:spcBef>
                        <a:spcAft>
                          <a:spcPts val="0"/>
                        </a:spcAft>
                        <a:buNone/>
                      </a:pPr>
                      <a:r>
                        <a:rPr lang="en"/>
                        <a:t>Hẹn cam: </a:t>
                      </a:r>
                      <a:r>
                        <a:rPr lang="en" b="1">
                          <a:solidFill>
                            <a:srgbClr val="1155CC"/>
                          </a:solidFill>
                        </a:rPr>
                        <a:t>liên hệ QTV Lab/ Admin đặt PT10</a:t>
                      </a:r>
                      <a:endParaRPr b="1">
                        <a:solidFill>
                          <a:srgbClr val="1155CC"/>
                        </a:solidFill>
                        <a:highlight>
                          <a:srgbClr val="FFFFFF"/>
                        </a:highlight>
                      </a:endParaRPr>
                    </a:p>
                  </a:txBody>
                  <a:tcPr marL="91425" marR="91425" marT="91425" marB="91425">
                    <a:lnL w="9525" cap="flat" cmpd="sng">
                      <a:solidFill>
                        <a:srgbClr val="0071BB"/>
                      </a:solidFill>
                      <a:prstDash val="solid"/>
                      <a:round/>
                      <a:headEnd type="none" w="sm" len="sm"/>
                      <a:tailEnd type="none" w="sm" len="sm"/>
                    </a:lnL>
                    <a:lnR w="9525" cap="flat" cmpd="sng">
                      <a:solidFill>
                        <a:srgbClr val="0071BB"/>
                      </a:solidFill>
                      <a:prstDash val="solid"/>
                      <a:round/>
                      <a:headEnd type="none" w="sm" len="sm"/>
                      <a:tailEnd type="none" w="sm" len="sm"/>
                    </a:lnR>
                    <a:lnT w="9525" cap="flat" cmpd="sng">
                      <a:solidFill>
                        <a:srgbClr val="0071BB"/>
                      </a:solidFill>
                      <a:prstDash val="solid"/>
                      <a:round/>
                      <a:headEnd type="none" w="sm" len="sm"/>
                      <a:tailEnd type="none" w="sm" len="sm"/>
                    </a:lnT>
                    <a:lnB w="9525" cap="flat" cmpd="sng">
                      <a:solidFill>
                        <a:srgbClr val="0071BB"/>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90" name="Google Shape;290;p61"/>
          <p:cNvSpPr txBox="1"/>
          <p:nvPr/>
        </p:nvSpPr>
        <p:spPr>
          <a:xfrm>
            <a:off x="642250" y="3161375"/>
            <a:ext cx="497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u="sng">
                <a:solidFill>
                  <a:schemeClr val="hlink"/>
                </a:solidFill>
                <a:hlinkClick r:id="rId3"/>
              </a:rPr>
              <a:t>Hướng dẫn trình bày dự án</a:t>
            </a:r>
            <a:endParaRPr sz="1800" b="1">
              <a:solidFill>
                <a:srgbClr val="0071B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62"/>
          <p:cNvSpPr txBox="1">
            <a:spLocks noGrp="1"/>
          </p:cNvSpPr>
          <p:nvPr>
            <p:ph type="body" idx="1"/>
          </p:nvPr>
        </p:nvSpPr>
        <p:spPr>
          <a:xfrm>
            <a:off x="581425" y="1093450"/>
            <a:ext cx="8026800" cy="3598200"/>
          </a:xfrm>
          <a:prstGeom prst="rect">
            <a:avLst/>
          </a:prstGeom>
        </p:spPr>
        <p:txBody>
          <a:bodyPr spcFirstLastPara="1" wrap="square" lIns="68575" tIns="34275" rIns="68575" bIns="34275" anchor="t" anchorCtr="0">
            <a:normAutofit/>
          </a:bodyPr>
          <a:lstStyle/>
          <a:p>
            <a:pPr marL="457200" lvl="0" indent="-336550" algn="l" rtl="0">
              <a:lnSpc>
                <a:spcPct val="140000"/>
              </a:lnSpc>
              <a:spcBef>
                <a:spcPts val="800"/>
              </a:spcBef>
              <a:spcAft>
                <a:spcPts val="0"/>
              </a:spcAft>
              <a:buClr>
                <a:srgbClr val="0071BB"/>
              </a:buClr>
              <a:buSzPts val="1700"/>
              <a:buChar char="-"/>
            </a:pPr>
            <a:r>
              <a:rPr lang="en" sz="1700">
                <a:solidFill>
                  <a:srgbClr val="0071BB"/>
                </a:solidFill>
                <a:latin typeface="Arial"/>
                <a:ea typeface="Arial"/>
                <a:cs typeface="Arial"/>
                <a:sym typeface="Arial"/>
              </a:rPr>
              <a:t>Học viên </a:t>
            </a:r>
            <a:r>
              <a:rPr lang="en" sz="1700" b="1" i="1">
                <a:solidFill>
                  <a:srgbClr val="0071BB"/>
                </a:solidFill>
                <a:latin typeface="Arial"/>
                <a:ea typeface="Arial"/>
                <a:cs typeface="Arial"/>
                <a:sym typeface="Arial"/>
              </a:rPr>
              <a:t>tự do lựa chọn sản phẩm bán tại Store &amp; tên gọi, logo cho Store </a:t>
            </a:r>
            <a:r>
              <a:rPr lang="en" sz="1700">
                <a:solidFill>
                  <a:srgbClr val="0071BB"/>
                </a:solidFill>
                <a:latin typeface="Arial"/>
                <a:ea typeface="Arial"/>
                <a:cs typeface="Arial"/>
                <a:sym typeface="Arial"/>
              </a:rPr>
              <a:t>(không nên dùng tên gọi Devcamp/ Bootcamp, không nên cùng một loại sản phẩm giống nhau);</a:t>
            </a:r>
            <a:endParaRPr sz="1700">
              <a:solidFill>
                <a:srgbClr val="0071BB"/>
              </a:solidFill>
              <a:latin typeface="Arial"/>
              <a:ea typeface="Arial"/>
              <a:cs typeface="Arial"/>
              <a:sym typeface="Arial"/>
            </a:endParaRPr>
          </a:p>
          <a:p>
            <a:pPr marL="457200" lvl="0" indent="-336550" algn="l" rtl="0">
              <a:lnSpc>
                <a:spcPct val="140000"/>
              </a:lnSpc>
              <a:spcBef>
                <a:spcPts val="800"/>
              </a:spcBef>
              <a:spcAft>
                <a:spcPts val="0"/>
              </a:spcAft>
              <a:buSzPts val="1700"/>
              <a:buChar char="-"/>
            </a:pPr>
            <a:r>
              <a:rPr lang="en" sz="1700">
                <a:latin typeface="Arial"/>
                <a:ea typeface="Arial"/>
                <a:cs typeface="Arial"/>
                <a:sym typeface="Arial"/>
              </a:rPr>
              <a:t>Join vào Trello Board đã được add, cập nhật tiến độ task theo ngày; </a:t>
            </a:r>
            <a:endParaRPr sz="1700">
              <a:latin typeface="Arial"/>
              <a:ea typeface="Arial"/>
              <a:cs typeface="Arial"/>
              <a:sym typeface="Arial"/>
            </a:endParaRPr>
          </a:p>
          <a:p>
            <a:pPr marL="457200" lvl="0" indent="-336550" algn="l" rtl="0">
              <a:lnSpc>
                <a:spcPct val="140000"/>
              </a:lnSpc>
              <a:spcBef>
                <a:spcPts val="800"/>
              </a:spcBef>
              <a:spcAft>
                <a:spcPts val="0"/>
              </a:spcAft>
              <a:buSzPts val="1700"/>
              <a:buChar char="-"/>
            </a:pPr>
            <a:r>
              <a:rPr lang="en" sz="1700">
                <a:latin typeface="Arial"/>
                <a:ea typeface="Arial"/>
                <a:cs typeface="Arial"/>
                <a:sym typeface="Arial"/>
              </a:rPr>
              <a:t>Nếu có vướng mắc, hãy hỏi đáp tại nhóm học tập, và Daily Scrum.</a:t>
            </a:r>
            <a:endParaRPr sz="1700">
              <a:latin typeface="Arial"/>
              <a:ea typeface="Arial"/>
              <a:cs typeface="Arial"/>
              <a:sym typeface="Arial"/>
            </a:endParaRPr>
          </a:p>
          <a:p>
            <a:pPr marL="457200" lvl="0" indent="-336550" algn="l" rtl="0">
              <a:lnSpc>
                <a:spcPct val="140000"/>
              </a:lnSpc>
              <a:spcBef>
                <a:spcPts val="800"/>
              </a:spcBef>
              <a:spcAft>
                <a:spcPts val="0"/>
              </a:spcAft>
              <a:buSzPts val="1700"/>
              <a:buChar char="-"/>
            </a:pPr>
            <a:r>
              <a:rPr lang="en" sz="1700">
                <a:latin typeface="Arial"/>
                <a:ea typeface="Arial"/>
                <a:cs typeface="Arial"/>
                <a:sym typeface="Arial"/>
              </a:rPr>
              <a:t>Nếu thực sự chưa hiểu, hãy đặt lịch hẹn vào phòng CAM</a:t>
            </a:r>
            <a:endParaRPr sz="1700">
              <a:latin typeface="Arial"/>
              <a:ea typeface="Arial"/>
              <a:cs typeface="Arial"/>
              <a:sym typeface="Arial"/>
            </a:endParaRPr>
          </a:p>
          <a:p>
            <a:pPr marL="457200" lvl="0" indent="-336550" algn="l" rtl="0">
              <a:lnSpc>
                <a:spcPct val="140000"/>
              </a:lnSpc>
              <a:spcBef>
                <a:spcPts val="800"/>
              </a:spcBef>
              <a:spcAft>
                <a:spcPts val="0"/>
              </a:spcAft>
              <a:buSzPts val="1700"/>
              <a:buChar char="-"/>
            </a:pPr>
            <a:r>
              <a:rPr lang="en" sz="1700">
                <a:latin typeface="Arial"/>
                <a:ea typeface="Arial"/>
                <a:cs typeface="Arial"/>
                <a:sym typeface="Arial"/>
              </a:rPr>
              <a:t>Qua mỗi task cần commit task là push lên gitlab</a:t>
            </a:r>
            <a:endParaRPr sz="1700">
              <a:latin typeface="Arial"/>
              <a:ea typeface="Arial"/>
              <a:cs typeface="Arial"/>
              <a:sym typeface="Arial"/>
            </a:endParaRPr>
          </a:p>
          <a:p>
            <a:pPr marL="457200" lvl="0" indent="-336550" algn="l" rtl="0">
              <a:lnSpc>
                <a:spcPct val="140000"/>
              </a:lnSpc>
              <a:spcBef>
                <a:spcPts val="800"/>
              </a:spcBef>
              <a:spcAft>
                <a:spcPts val="0"/>
              </a:spcAft>
              <a:buSzPts val="1700"/>
              <a:buChar char="-"/>
            </a:pPr>
            <a:r>
              <a:rPr lang="en" sz="1700">
                <a:latin typeface="Arial"/>
                <a:ea typeface="Arial"/>
                <a:cs typeface="Arial"/>
                <a:sym typeface="Arial"/>
              </a:rPr>
              <a:t>Thời gian làm dự án Capstone: 1 tuần</a:t>
            </a:r>
            <a:endParaRPr sz="1700">
              <a:latin typeface="Arial"/>
              <a:ea typeface="Arial"/>
              <a:cs typeface="Arial"/>
              <a:sym typeface="Arial"/>
            </a:endParaRPr>
          </a:p>
        </p:txBody>
      </p:sp>
      <p:sp>
        <p:nvSpPr>
          <p:cNvPr id="296" name="Google Shape;296;p62"/>
          <p:cNvSpPr txBox="1"/>
          <p:nvPr/>
        </p:nvSpPr>
        <p:spPr>
          <a:xfrm>
            <a:off x="553050" y="381000"/>
            <a:ext cx="85206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000" b="1">
                <a:solidFill>
                  <a:srgbClr val="37278E"/>
                </a:solidFill>
              </a:rPr>
              <a:t>Quy định chung</a:t>
            </a:r>
            <a:endParaRPr sz="2000" b="1">
              <a:solidFill>
                <a:srgbClr val="37278E"/>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003091"/>
      </a:accent1>
      <a:accent2>
        <a:srgbClr val="0071BB"/>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999</Words>
  <Application>Microsoft Macintosh PowerPoint</Application>
  <PresentationFormat>On-screen Show (16:9)</PresentationFormat>
  <Paragraphs>123</Paragraphs>
  <Slides>10</Slides>
  <Notes>10</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10</vt:i4>
      </vt:variant>
    </vt:vector>
  </HeadingPairs>
  <TitlesOfParts>
    <vt:vector size="15" baseType="lpstr">
      <vt:lpstr>Arial</vt:lpstr>
      <vt:lpstr>Calibri</vt:lpstr>
      <vt:lpstr>Simple Light</vt:lpstr>
      <vt:lpstr>Office Theme</vt:lpstr>
      <vt:lpstr>Office Theme</vt:lpstr>
      <vt:lpstr>Capstone project  Dự án ONLINE STORE24</vt:lpstr>
      <vt:lpstr>PowerPoint Presentation</vt:lpstr>
      <vt:lpstr>PowerPoint Presentation</vt:lpstr>
      <vt:lpstr>Yêu cầu front-end dành cho nhân viên/quản lí (AdminLTE)</vt:lpstr>
      <vt:lpstr>PowerPoint Presentation</vt:lpstr>
      <vt:lpstr>PowerPoint Presentation</vt:lpstr>
      <vt:lpstr>Chi tiết tiến độ</vt:lpstr>
      <vt:lpstr>Yêu cầu về hoạt động hàng ngày</vt:lpstr>
      <vt:lpstr>Kênh trợ giúp: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phuong nam</cp:lastModifiedBy>
  <cp:revision>1</cp:revision>
  <dcterms:modified xsi:type="dcterms:W3CDTF">2026-06-05T04:54:51Z</dcterms:modified>
</cp:coreProperties>
</file>